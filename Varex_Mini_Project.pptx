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  <p:sldMasterId id="2147483795" r:id="rId5"/>
    <p:sldMasterId id="2147483681" r:id="rId6"/>
  </p:sldMasterIdLst>
  <p:notesMasterIdLst>
    <p:notesMasterId r:id="rId40"/>
  </p:notesMasterIdLst>
  <p:handoutMasterIdLst>
    <p:handoutMasterId r:id="rId41"/>
  </p:handoutMasterIdLst>
  <p:sldIdLst>
    <p:sldId id="272" r:id="rId7"/>
    <p:sldId id="276" r:id="rId8"/>
    <p:sldId id="278" r:id="rId9"/>
    <p:sldId id="277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9" r:id="rId19"/>
    <p:sldId id="291" r:id="rId20"/>
    <p:sldId id="292" r:id="rId21"/>
    <p:sldId id="293" r:id="rId22"/>
    <p:sldId id="290" r:id="rId23"/>
    <p:sldId id="294" r:id="rId24"/>
    <p:sldId id="295" r:id="rId25"/>
    <p:sldId id="296" r:id="rId26"/>
    <p:sldId id="297" r:id="rId27"/>
    <p:sldId id="298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273" r:id="rId39"/>
  </p:sldIdLst>
  <p:sldSz cx="12192000" cy="6858000"/>
  <p:notesSz cx="6858000" cy="9144000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5C"/>
    <a:srgbClr val="395676"/>
    <a:srgbClr val="D2D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18" autoAdjust="0"/>
    <p:restoredTop sz="77129" autoAdjust="0"/>
  </p:normalViewPr>
  <p:slideViewPr>
    <p:cSldViewPr snapToGrid="0" showGuides="1">
      <p:cViewPr varScale="1">
        <p:scale>
          <a:sx n="57" d="100"/>
          <a:sy n="57" d="100"/>
        </p:scale>
        <p:origin x="508" y="40"/>
      </p:cViewPr>
      <p:guideLst>
        <p:guide orient="horz" pos="2160"/>
        <p:guide pos="5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gs" Target="tags/tag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ahithi-1328/Varex_mini_project_tasks/tree/main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E3E803-BCB8-4026-A29B-AC37600BDF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6AB8E2-4AFC-4FE5-A789-A83CDC832B3A}">
      <dgm:prSet custT="1"/>
      <dgm:spPr/>
      <dgm:t>
        <a:bodyPr/>
        <a:lstStyle/>
        <a:p>
          <a:r>
            <a:rPr lang="en-US" sz="2000" b="0" i="0" baseline="0" dirty="0">
              <a:latin typeface="+mj-lt"/>
              <a:cs typeface="Arial" panose="020B0604020202020204" pitchFamily="34" charset="0"/>
            </a:rPr>
            <a:t>Understood how raw detector images are stored as binary numeric data</a:t>
          </a:r>
          <a:r>
            <a:rPr lang="en-US" sz="2000" b="0" i="0" baseline="0" dirty="0">
              <a:latin typeface="+mj-lt"/>
            </a:rPr>
            <a:t>.</a:t>
          </a:r>
          <a:endParaRPr lang="en-US" sz="2000" dirty="0">
            <a:latin typeface="+mj-lt"/>
          </a:endParaRPr>
        </a:p>
      </dgm:t>
    </dgm:pt>
    <dgm:pt modelId="{434104DD-4226-43C8-88A4-29E7D58D3428}" type="parTrans" cxnId="{B6987B6B-A794-49CD-8971-514BC0246436}">
      <dgm:prSet/>
      <dgm:spPr/>
      <dgm:t>
        <a:bodyPr/>
        <a:lstStyle/>
        <a:p>
          <a:endParaRPr lang="en-US"/>
        </a:p>
      </dgm:t>
    </dgm:pt>
    <dgm:pt modelId="{239A3665-F292-4C84-81D0-21E16149D2DA}" type="sibTrans" cxnId="{B6987B6B-A794-49CD-8971-514BC0246436}">
      <dgm:prSet/>
      <dgm:spPr/>
      <dgm:t>
        <a:bodyPr/>
        <a:lstStyle/>
        <a:p>
          <a:endParaRPr lang="en-US"/>
        </a:p>
      </dgm:t>
    </dgm:pt>
    <dgm:pt modelId="{E7F49A5B-BCF1-4959-95CA-1872D97826EB}">
      <dgm:prSet custT="1"/>
      <dgm:spPr/>
      <dgm:t>
        <a:bodyPr/>
        <a:lstStyle/>
        <a:p>
          <a:r>
            <a:rPr lang="en-US" sz="2000" b="0" i="0" baseline="0" dirty="0">
              <a:latin typeface="+mj-lt"/>
              <a:cs typeface="Arial" panose="020B0604020202020204" pitchFamily="34" charset="0"/>
            </a:rPr>
            <a:t>Learned the structure of detector files, including headers and pixel data</a:t>
          </a:r>
          <a:r>
            <a:rPr lang="en-US" sz="1900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B06E96-E975-4F70-84E9-4811AD426B54}" type="parTrans" cxnId="{08DFFA30-E5A8-44D0-99B8-E8BA1C2C349D}">
      <dgm:prSet/>
      <dgm:spPr/>
      <dgm:t>
        <a:bodyPr/>
        <a:lstStyle/>
        <a:p>
          <a:endParaRPr lang="en-US"/>
        </a:p>
      </dgm:t>
    </dgm:pt>
    <dgm:pt modelId="{5C556338-E528-4783-ADAF-FBE43FADDFDD}" type="sibTrans" cxnId="{08DFFA30-E5A8-44D0-99B8-E8BA1C2C349D}">
      <dgm:prSet/>
      <dgm:spPr/>
      <dgm:t>
        <a:bodyPr/>
        <a:lstStyle/>
        <a:p>
          <a:endParaRPr lang="en-US"/>
        </a:p>
      </dgm:t>
    </dgm:pt>
    <dgm:pt modelId="{96081A2E-A7BC-4E78-9E02-22F9304B1E66}">
      <dgm:prSet custT="1"/>
      <dgm:spPr/>
      <dgm:t>
        <a:bodyPr/>
        <a:lstStyle/>
        <a:p>
          <a:r>
            <a:rPr lang="en-US" sz="2000" b="0" i="0" baseline="0" dirty="0">
              <a:latin typeface="+mj-lt"/>
              <a:cs typeface="Arial" panose="020B0604020202020204" pitchFamily="34" charset="0"/>
            </a:rPr>
            <a:t>Gained clarity on 16-bit grayscale images and the meaning of ADU values</a:t>
          </a:r>
          <a:r>
            <a:rPr lang="en-US" sz="2000" b="0" i="0" baseline="0" dirty="0"/>
            <a:t>.</a:t>
          </a:r>
          <a:endParaRPr lang="en-US" sz="2000" dirty="0"/>
        </a:p>
      </dgm:t>
    </dgm:pt>
    <dgm:pt modelId="{369A2B6A-3E7B-4600-AE62-B8BF4683D066}" type="parTrans" cxnId="{83746956-80A2-4E7C-B824-E82DF0FBF01D}">
      <dgm:prSet/>
      <dgm:spPr/>
      <dgm:t>
        <a:bodyPr/>
        <a:lstStyle/>
        <a:p>
          <a:endParaRPr lang="en-US"/>
        </a:p>
      </dgm:t>
    </dgm:pt>
    <dgm:pt modelId="{FEDE1549-203B-457B-8B0D-FD9AC27B8399}" type="sibTrans" cxnId="{83746956-80A2-4E7C-B824-E82DF0FBF01D}">
      <dgm:prSet/>
      <dgm:spPr/>
      <dgm:t>
        <a:bodyPr/>
        <a:lstStyle/>
        <a:p>
          <a:endParaRPr lang="en-US"/>
        </a:p>
      </dgm:t>
    </dgm:pt>
    <dgm:pt modelId="{4FB5C2A5-08AA-4350-8E03-D0247D737B8D}">
      <dgm:prSet custT="1"/>
      <dgm:spPr/>
      <dgm:t>
        <a:bodyPr/>
        <a:lstStyle/>
        <a:p>
          <a:r>
            <a:rPr lang="en-US" sz="2000" b="0" i="0" baseline="0" dirty="0">
              <a:latin typeface="Century Gothic "/>
              <a:cs typeface="Arial" panose="020B0604020202020204" pitchFamily="34" charset="0"/>
            </a:rPr>
            <a:t>Learned how to correctly interpret raw memory into a 2D image.</a:t>
          </a:r>
          <a:endParaRPr lang="en-US" sz="2000" dirty="0">
            <a:latin typeface="Century Gothic "/>
            <a:cs typeface="Arial" panose="020B0604020202020204" pitchFamily="34" charset="0"/>
          </a:endParaRPr>
        </a:p>
      </dgm:t>
    </dgm:pt>
    <dgm:pt modelId="{4400C80A-E45E-402A-BBDA-7179AAD18CE0}" type="parTrans" cxnId="{EE4F977E-945D-4C86-BB97-E7817DD094E9}">
      <dgm:prSet/>
      <dgm:spPr/>
      <dgm:t>
        <a:bodyPr/>
        <a:lstStyle/>
        <a:p>
          <a:endParaRPr lang="en-US"/>
        </a:p>
      </dgm:t>
    </dgm:pt>
    <dgm:pt modelId="{0DB6230B-B7B8-4AD0-8158-85F460897EE2}" type="sibTrans" cxnId="{EE4F977E-945D-4C86-BB97-E7817DD094E9}">
      <dgm:prSet/>
      <dgm:spPr/>
      <dgm:t>
        <a:bodyPr/>
        <a:lstStyle/>
        <a:p>
          <a:endParaRPr lang="en-US"/>
        </a:p>
      </dgm:t>
    </dgm:pt>
    <dgm:pt modelId="{09D65AA5-D9E5-40CD-8D39-58E0ACC10D29}">
      <dgm:prSet custT="1"/>
      <dgm:spPr/>
      <dgm:t>
        <a:bodyPr/>
        <a:lstStyle/>
        <a:p>
          <a:r>
            <a:rPr lang="en-US" sz="2000" b="0" i="0" baseline="0" dirty="0">
              <a:latin typeface="+mj-lt"/>
              <a:cs typeface="Arial" panose="020B0604020202020204" pitchFamily="34" charset="0"/>
            </a:rPr>
            <a:t>Applied basic image processing techniques to analyze detector behavior</a:t>
          </a:r>
          <a:r>
            <a:rPr lang="en-US" sz="2000" b="0" i="0" baseline="0" dirty="0">
              <a:latin typeface="+mj-lt"/>
            </a:rPr>
            <a:t>.</a:t>
          </a:r>
          <a:endParaRPr lang="en-US" sz="2000" dirty="0">
            <a:latin typeface="+mj-lt"/>
          </a:endParaRPr>
        </a:p>
      </dgm:t>
    </dgm:pt>
    <dgm:pt modelId="{094E7D4F-A2F9-42ED-A1CA-AB84667D9133}" type="parTrans" cxnId="{5029C9E3-5AE5-49FB-931F-2B40E4A92A06}">
      <dgm:prSet/>
      <dgm:spPr/>
      <dgm:t>
        <a:bodyPr/>
        <a:lstStyle/>
        <a:p>
          <a:endParaRPr lang="en-US"/>
        </a:p>
      </dgm:t>
    </dgm:pt>
    <dgm:pt modelId="{2C3061CA-9D7D-43CD-8DD2-3C3851C369B5}" type="sibTrans" cxnId="{5029C9E3-5AE5-49FB-931F-2B40E4A92A06}">
      <dgm:prSet/>
      <dgm:spPr/>
      <dgm:t>
        <a:bodyPr/>
        <a:lstStyle/>
        <a:p>
          <a:endParaRPr lang="en-US"/>
        </a:p>
      </dgm:t>
    </dgm:pt>
    <dgm:pt modelId="{9CD6598D-6A7D-49E5-912E-A56974319C34}">
      <dgm:prSet custT="1"/>
      <dgm:spPr/>
      <dgm:t>
        <a:bodyPr/>
        <a:lstStyle/>
        <a:p>
          <a:r>
            <a:rPr lang="en-US" sz="2000" b="1" i="0" baseline="0" dirty="0">
              <a:latin typeface="+mj-lt"/>
            </a:rPr>
            <a:t>CODE : </a:t>
          </a:r>
          <a:r>
            <a:rPr lang="en-US" sz="2000" dirty="0">
              <a:hlinkClick xmlns:r="http://schemas.openxmlformats.org/officeDocument/2006/relationships" r:id="rId1"/>
            </a:rPr>
            <a:t>Sahithi/</a:t>
          </a:r>
          <a:r>
            <a:rPr lang="en-US" sz="20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dirty="0">
              <a:hlinkClick xmlns:r="http://schemas.openxmlformats.org/officeDocument/2006/relationships" r:id="rId1"/>
            </a:rPr>
            <a:t>/Code &amp; </a:t>
          </a:r>
          <a:r>
            <a:rPr lang="en-US" sz="2000" dirty="0" err="1">
              <a:hlinkClick xmlns:r="http://schemas.openxmlformats.org/officeDocument/2006/relationships" r:id="rId1"/>
            </a:rPr>
            <a:t>Output_images</a:t>
          </a:r>
          <a:endParaRPr lang="en-US" sz="2000" b="1" i="0" u="sng" baseline="0" dirty="0">
            <a:solidFill>
              <a:schemeClr val="tx1"/>
            </a:solidFill>
            <a:latin typeface="+mj-lt"/>
            <a:cs typeface="Arial" panose="020B0604020202020204" pitchFamily="34" charset="0"/>
          </a:endParaRPr>
        </a:p>
        <a:p>
          <a:endParaRPr lang="en-US" sz="1300" dirty="0"/>
        </a:p>
      </dgm:t>
    </dgm:pt>
    <dgm:pt modelId="{7459CAD5-0601-47EF-B0F1-8DC222EB8C16}" type="parTrans" cxnId="{CCB49F7C-5937-4543-AE83-764828CAC63D}">
      <dgm:prSet/>
      <dgm:spPr/>
      <dgm:t>
        <a:bodyPr/>
        <a:lstStyle/>
        <a:p>
          <a:endParaRPr lang="en-US"/>
        </a:p>
      </dgm:t>
    </dgm:pt>
    <dgm:pt modelId="{DE6C2A2F-B8A7-4C25-9E1C-F860BF311D78}" type="sibTrans" cxnId="{CCB49F7C-5937-4543-AE83-764828CAC63D}">
      <dgm:prSet/>
      <dgm:spPr/>
      <dgm:t>
        <a:bodyPr/>
        <a:lstStyle/>
        <a:p>
          <a:endParaRPr lang="en-US"/>
        </a:p>
      </dgm:t>
    </dgm:pt>
    <dgm:pt modelId="{AE076634-D0C4-479C-B083-903BDFA5AE85}" type="pres">
      <dgm:prSet presAssocID="{69E3E803-BCB8-4026-A29B-AC37600BDFC1}" presName="vert0" presStyleCnt="0">
        <dgm:presLayoutVars>
          <dgm:dir/>
          <dgm:animOne val="branch"/>
          <dgm:animLvl val="lvl"/>
        </dgm:presLayoutVars>
      </dgm:prSet>
      <dgm:spPr/>
    </dgm:pt>
    <dgm:pt modelId="{0B639FD2-7E7C-49EB-A161-A4D4689011F6}" type="pres">
      <dgm:prSet presAssocID="{BB6AB8E2-4AFC-4FE5-A789-A83CDC832B3A}" presName="thickLine" presStyleLbl="alignNode1" presStyleIdx="0" presStyleCnt="6"/>
      <dgm:spPr/>
    </dgm:pt>
    <dgm:pt modelId="{21EFE964-DBB3-452C-BD41-B30B8189863C}" type="pres">
      <dgm:prSet presAssocID="{BB6AB8E2-4AFC-4FE5-A789-A83CDC832B3A}" presName="horz1" presStyleCnt="0"/>
      <dgm:spPr/>
    </dgm:pt>
    <dgm:pt modelId="{5675E643-D3E3-4E8C-8721-AC4883AB1B58}" type="pres">
      <dgm:prSet presAssocID="{BB6AB8E2-4AFC-4FE5-A789-A83CDC832B3A}" presName="tx1" presStyleLbl="revTx" presStyleIdx="0" presStyleCnt="6"/>
      <dgm:spPr/>
    </dgm:pt>
    <dgm:pt modelId="{834F2BC6-634E-42EC-9843-1FF06794DCCC}" type="pres">
      <dgm:prSet presAssocID="{BB6AB8E2-4AFC-4FE5-A789-A83CDC832B3A}" presName="vert1" presStyleCnt="0"/>
      <dgm:spPr/>
    </dgm:pt>
    <dgm:pt modelId="{C0B92A8C-10CC-430F-859A-937A3C09D90E}" type="pres">
      <dgm:prSet presAssocID="{E7F49A5B-BCF1-4959-95CA-1872D97826EB}" presName="thickLine" presStyleLbl="alignNode1" presStyleIdx="1" presStyleCnt="6"/>
      <dgm:spPr/>
    </dgm:pt>
    <dgm:pt modelId="{F9394280-9A6E-4135-828C-CD1AC54C8692}" type="pres">
      <dgm:prSet presAssocID="{E7F49A5B-BCF1-4959-95CA-1872D97826EB}" presName="horz1" presStyleCnt="0"/>
      <dgm:spPr/>
    </dgm:pt>
    <dgm:pt modelId="{315FD07D-CAD4-42CE-BCD5-D5D640C5B287}" type="pres">
      <dgm:prSet presAssocID="{E7F49A5B-BCF1-4959-95CA-1872D97826EB}" presName="tx1" presStyleLbl="revTx" presStyleIdx="1" presStyleCnt="6"/>
      <dgm:spPr/>
    </dgm:pt>
    <dgm:pt modelId="{596009BC-C06F-41B0-B76D-A327EFBB14A8}" type="pres">
      <dgm:prSet presAssocID="{E7F49A5B-BCF1-4959-95CA-1872D97826EB}" presName="vert1" presStyleCnt="0"/>
      <dgm:spPr/>
    </dgm:pt>
    <dgm:pt modelId="{5BD9B091-2352-4E66-A9A8-341BD53F0CC2}" type="pres">
      <dgm:prSet presAssocID="{96081A2E-A7BC-4E78-9E02-22F9304B1E66}" presName="thickLine" presStyleLbl="alignNode1" presStyleIdx="2" presStyleCnt="6"/>
      <dgm:spPr/>
    </dgm:pt>
    <dgm:pt modelId="{9487C103-5376-4372-AE90-DDE376085911}" type="pres">
      <dgm:prSet presAssocID="{96081A2E-A7BC-4E78-9E02-22F9304B1E66}" presName="horz1" presStyleCnt="0"/>
      <dgm:spPr/>
    </dgm:pt>
    <dgm:pt modelId="{A27905AE-14EA-4510-9BEF-93645D9C4721}" type="pres">
      <dgm:prSet presAssocID="{96081A2E-A7BC-4E78-9E02-22F9304B1E66}" presName="tx1" presStyleLbl="revTx" presStyleIdx="2" presStyleCnt="6"/>
      <dgm:spPr/>
    </dgm:pt>
    <dgm:pt modelId="{D37D0B9A-590C-47FD-9D70-0304F700B3E8}" type="pres">
      <dgm:prSet presAssocID="{96081A2E-A7BC-4E78-9E02-22F9304B1E66}" presName="vert1" presStyleCnt="0"/>
      <dgm:spPr/>
    </dgm:pt>
    <dgm:pt modelId="{7DEDE267-7ADA-4D0F-ABF2-341DC113CA50}" type="pres">
      <dgm:prSet presAssocID="{4FB5C2A5-08AA-4350-8E03-D0247D737B8D}" presName="thickLine" presStyleLbl="alignNode1" presStyleIdx="3" presStyleCnt="6"/>
      <dgm:spPr/>
    </dgm:pt>
    <dgm:pt modelId="{CE06C5D5-F7E4-43EA-8C18-C68468EEAA20}" type="pres">
      <dgm:prSet presAssocID="{4FB5C2A5-08AA-4350-8E03-D0247D737B8D}" presName="horz1" presStyleCnt="0"/>
      <dgm:spPr/>
    </dgm:pt>
    <dgm:pt modelId="{AB2D0EAE-FD4F-4D9C-8AB4-9A8FFFE65224}" type="pres">
      <dgm:prSet presAssocID="{4FB5C2A5-08AA-4350-8E03-D0247D737B8D}" presName="tx1" presStyleLbl="revTx" presStyleIdx="3" presStyleCnt="6"/>
      <dgm:spPr/>
    </dgm:pt>
    <dgm:pt modelId="{F891624F-AF96-40D7-BE88-6A5FC0D2F7EA}" type="pres">
      <dgm:prSet presAssocID="{4FB5C2A5-08AA-4350-8E03-D0247D737B8D}" presName="vert1" presStyleCnt="0"/>
      <dgm:spPr/>
    </dgm:pt>
    <dgm:pt modelId="{21DE8367-00B3-451F-93C0-04BC104BA0D6}" type="pres">
      <dgm:prSet presAssocID="{09D65AA5-D9E5-40CD-8D39-58E0ACC10D29}" presName="thickLine" presStyleLbl="alignNode1" presStyleIdx="4" presStyleCnt="6"/>
      <dgm:spPr/>
    </dgm:pt>
    <dgm:pt modelId="{D5D09E67-94AC-42C7-9140-3483D65F4157}" type="pres">
      <dgm:prSet presAssocID="{09D65AA5-D9E5-40CD-8D39-58E0ACC10D29}" presName="horz1" presStyleCnt="0"/>
      <dgm:spPr/>
    </dgm:pt>
    <dgm:pt modelId="{965301A4-8BB4-44A2-BDB3-454885E36714}" type="pres">
      <dgm:prSet presAssocID="{09D65AA5-D9E5-40CD-8D39-58E0ACC10D29}" presName="tx1" presStyleLbl="revTx" presStyleIdx="4" presStyleCnt="6"/>
      <dgm:spPr/>
    </dgm:pt>
    <dgm:pt modelId="{8C74BDD4-1C94-4619-8EB2-CA3AF14099B6}" type="pres">
      <dgm:prSet presAssocID="{09D65AA5-D9E5-40CD-8D39-58E0ACC10D29}" presName="vert1" presStyleCnt="0"/>
      <dgm:spPr/>
    </dgm:pt>
    <dgm:pt modelId="{89045616-869E-4448-BD4C-7DAC4F2500D1}" type="pres">
      <dgm:prSet presAssocID="{9CD6598D-6A7D-49E5-912E-A56974319C34}" presName="thickLine" presStyleLbl="alignNode1" presStyleIdx="5" presStyleCnt="6"/>
      <dgm:spPr/>
    </dgm:pt>
    <dgm:pt modelId="{EF0B7E33-EB44-4C5D-8DA3-B3A69AE5F806}" type="pres">
      <dgm:prSet presAssocID="{9CD6598D-6A7D-49E5-912E-A56974319C34}" presName="horz1" presStyleCnt="0"/>
      <dgm:spPr/>
    </dgm:pt>
    <dgm:pt modelId="{CFDF13CF-5DF7-4299-BD33-46349C0E8F0C}" type="pres">
      <dgm:prSet presAssocID="{9CD6598D-6A7D-49E5-912E-A56974319C34}" presName="tx1" presStyleLbl="revTx" presStyleIdx="5" presStyleCnt="6"/>
      <dgm:spPr/>
    </dgm:pt>
    <dgm:pt modelId="{58B38CA8-481F-43CA-A168-A2E16F77D288}" type="pres">
      <dgm:prSet presAssocID="{9CD6598D-6A7D-49E5-912E-A56974319C34}" presName="vert1" presStyleCnt="0"/>
      <dgm:spPr/>
    </dgm:pt>
  </dgm:ptLst>
  <dgm:cxnLst>
    <dgm:cxn modelId="{B7512621-BE9E-4899-A4B7-E0A2ADB5C019}" type="presOf" srcId="{69E3E803-BCB8-4026-A29B-AC37600BDFC1}" destId="{AE076634-D0C4-479C-B083-903BDFA5AE85}" srcOrd="0" destOrd="0" presId="urn:microsoft.com/office/officeart/2008/layout/LinedList"/>
    <dgm:cxn modelId="{50946828-2F1B-4F07-93E1-AB8EE3C73AF8}" type="presOf" srcId="{9CD6598D-6A7D-49E5-912E-A56974319C34}" destId="{CFDF13CF-5DF7-4299-BD33-46349C0E8F0C}" srcOrd="0" destOrd="0" presId="urn:microsoft.com/office/officeart/2008/layout/LinedList"/>
    <dgm:cxn modelId="{08DFFA30-E5A8-44D0-99B8-E8BA1C2C349D}" srcId="{69E3E803-BCB8-4026-A29B-AC37600BDFC1}" destId="{E7F49A5B-BCF1-4959-95CA-1872D97826EB}" srcOrd="1" destOrd="0" parTransId="{05B06E96-E975-4F70-84E9-4811AD426B54}" sibTransId="{5C556338-E528-4783-ADAF-FBE43FADDFDD}"/>
    <dgm:cxn modelId="{43E89E61-22ED-498C-A768-92FEFB7D5BE2}" type="presOf" srcId="{4FB5C2A5-08AA-4350-8E03-D0247D737B8D}" destId="{AB2D0EAE-FD4F-4D9C-8AB4-9A8FFFE65224}" srcOrd="0" destOrd="0" presId="urn:microsoft.com/office/officeart/2008/layout/LinedList"/>
    <dgm:cxn modelId="{07BCB065-D493-41A6-9D7D-13D66B2BC0EA}" type="presOf" srcId="{E7F49A5B-BCF1-4959-95CA-1872D97826EB}" destId="{315FD07D-CAD4-42CE-BCD5-D5D640C5B287}" srcOrd="0" destOrd="0" presId="urn:microsoft.com/office/officeart/2008/layout/LinedList"/>
    <dgm:cxn modelId="{B6987B6B-A794-49CD-8971-514BC0246436}" srcId="{69E3E803-BCB8-4026-A29B-AC37600BDFC1}" destId="{BB6AB8E2-4AFC-4FE5-A789-A83CDC832B3A}" srcOrd="0" destOrd="0" parTransId="{434104DD-4226-43C8-88A4-29E7D58D3428}" sibTransId="{239A3665-F292-4C84-81D0-21E16149D2DA}"/>
    <dgm:cxn modelId="{83746956-80A2-4E7C-B824-E82DF0FBF01D}" srcId="{69E3E803-BCB8-4026-A29B-AC37600BDFC1}" destId="{96081A2E-A7BC-4E78-9E02-22F9304B1E66}" srcOrd="2" destOrd="0" parTransId="{369A2B6A-3E7B-4600-AE62-B8BF4683D066}" sibTransId="{FEDE1549-203B-457B-8B0D-FD9AC27B8399}"/>
    <dgm:cxn modelId="{CCB49F7C-5937-4543-AE83-764828CAC63D}" srcId="{69E3E803-BCB8-4026-A29B-AC37600BDFC1}" destId="{9CD6598D-6A7D-49E5-912E-A56974319C34}" srcOrd="5" destOrd="0" parTransId="{7459CAD5-0601-47EF-B0F1-8DC222EB8C16}" sibTransId="{DE6C2A2F-B8A7-4C25-9E1C-F860BF311D78}"/>
    <dgm:cxn modelId="{EE4F977E-945D-4C86-BB97-E7817DD094E9}" srcId="{69E3E803-BCB8-4026-A29B-AC37600BDFC1}" destId="{4FB5C2A5-08AA-4350-8E03-D0247D737B8D}" srcOrd="3" destOrd="0" parTransId="{4400C80A-E45E-402A-BBDA-7179AAD18CE0}" sibTransId="{0DB6230B-B7B8-4AD0-8158-85F460897EE2}"/>
    <dgm:cxn modelId="{6A5055A9-590E-4436-8052-DA283E3372B3}" type="presOf" srcId="{96081A2E-A7BC-4E78-9E02-22F9304B1E66}" destId="{A27905AE-14EA-4510-9BEF-93645D9C4721}" srcOrd="0" destOrd="0" presId="urn:microsoft.com/office/officeart/2008/layout/LinedList"/>
    <dgm:cxn modelId="{863967E2-D99E-46DD-8478-7E1BE418C4AD}" type="presOf" srcId="{BB6AB8E2-4AFC-4FE5-A789-A83CDC832B3A}" destId="{5675E643-D3E3-4E8C-8721-AC4883AB1B58}" srcOrd="0" destOrd="0" presId="urn:microsoft.com/office/officeart/2008/layout/LinedList"/>
    <dgm:cxn modelId="{5029C9E3-5AE5-49FB-931F-2B40E4A92A06}" srcId="{69E3E803-BCB8-4026-A29B-AC37600BDFC1}" destId="{09D65AA5-D9E5-40CD-8D39-58E0ACC10D29}" srcOrd="4" destOrd="0" parTransId="{094E7D4F-A2F9-42ED-A1CA-AB84667D9133}" sibTransId="{2C3061CA-9D7D-43CD-8DD2-3C3851C369B5}"/>
    <dgm:cxn modelId="{6BEF45EF-41B0-44FD-9415-A6660EA6B22D}" type="presOf" srcId="{09D65AA5-D9E5-40CD-8D39-58E0ACC10D29}" destId="{965301A4-8BB4-44A2-BDB3-454885E36714}" srcOrd="0" destOrd="0" presId="urn:microsoft.com/office/officeart/2008/layout/LinedList"/>
    <dgm:cxn modelId="{F332B9E2-DA12-432D-BCF4-7D13C373424F}" type="presParOf" srcId="{AE076634-D0C4-479C-B083-903BDFA5AE85}" destId="{0B639FD2-7E7C-49EB-A161-A4D4689011F6}" srcOrd="0" destOrd="0" presId="urn:microsoft.com/office/officeart/2008/layout/LinedList"/>
    <dgm:cxn modelId="{9EAEFB3D-9541-452A-9596-3997EDBF97EA}" type="presParOf" srcId="{AE076634-D0C4-479C-B083-903BDFA5AE85}" destId="{21EFE964-DBB3-452C-BD41-B30B8189863C}" srcOrd="1" destOrd="0" presId="urn:microsoft.com/office/officeart/2008/layout/LinedList"/>
    <dgm:cxn modelId="{027CE8D7-9196-415A-A4D2-2A9CB12B0DB4}" type="presParOf" srcId="{21EFE964-DBB3-452C-BD41-B30B8189863C}" destId="{5675E643-D3E3-4E8C-8721-AC4883AB1B58}" srcOrd="0" destOrd="0" presId="urn:microsoft.com/office/officeart/2008/layout/LinedList"/>
    <dgm:cxn modelId="{807A58CF-6469-4FFF-BB5F-70075B1C9A57}" type="presParOf" srcId="{21EFE964-DBB3-452C-BD41-B30B8189863C}" destId="{834F2BC6-634E-42EC-9843-1FF06794DCCC}" srcOrd="1" destOrd="0" presId="urn:microsoft.com/office/officeart/2008/layout/LinedList"/>
    <dgm:cxn modelId="{6B1AFACD-AA72-4107-AFE5-A5A56AD6E492}" type="presParOf" srcId="{AE076634-D0C4-479C-B083-903BDFA5AE85}" destId="{C0B92A8C-10CC-430F-859A-937A3C09D90E}" srcOrd="2" destOrd="0" presId="urn:microsoft.com/office/officeart/2008/layout/LinedList"/>
    <dgm:cxn modelId="{6FEA3AE7-7519-437B-874B-3686BD49A5DE}" type="presParOf" srcId="{AE076634-D0C4-479C-B083-903BDFA5AE85}" destId="{F9394280-9A6E-4135-828C-CD1AC54C8692}" srcOrd="3" destOrd="0" presId="urn:microsoft.com/office/officeart/2008/layout/LinedList"/>
    <dgm:cxn modelId="{809A75E0-1402-4CF6-9EBB-A2736566F7EB}" type="presParOf" srcId="{F9394280-9A6E-4135-828C-CD1AC54C8692}" destId="{315FD07D-CAD4-42CE-BCD5-D5D640C5B287}" srcOrd="0" destOrd="0" presId="urn:microsoft.com/office/officeart/2008/layout/LinedList"/>
    <dgm:cxn modelId="{6982BB16-14B1-4DD4-B5AC-86EEB50BB6C3}" type="presParOf" srcId="{F9394280-9A6E-4135-828C-CD1AC54C8692}" destId="{596009BC-C06F-41B0-B76D-A327EFBB14A8}" srcOrd="1" destOrd="0" presId="urn:microsoft.com/office/officeart/2008/layout/LinedList"/>
    <dgm:cxn modelId="{16D45759-1E71-419F-8839-47A78B068C37}" type="presParOf" srcId="{AE076634-D0C4-479C-B083-903BDFA5AE85}" destId="{5BD9B091-2352-4E66-A9A8-341BD53F0CC2}" srcOrd="4" destOrd="0" presId="urn:microsoft.com/office/officeart/2008/layout/LinedList"/>
    <dgm:cxn modelId="{C9C0BC61-5401-4DE9-8B7A-AAB8079172A0}" type="presParOf" srcId="{AE076634-D0C4-479C-B083-903BDFA5AE85}" destId="{9487C103-5376-4372-AE90-DDE376085911}" srcOrd="5" destOrd="0" presId="urn:microsoft.com/office/officeart/2008/layout/LinedList"/>
    <dgm:cxn modelId="{3024FB63-63C9-496C-B3A1-53ADF4B12CFE}" type="presParOf" srcId="{9487C103-5376-4372-AE90-DDE376085911}" destId="{A27905AE-14EA-4510-9BEF-93645D9C4721}" srcOrd="0" destOrd="0" presId="urn:microsoft.com/office/officeart/2008/layout/LinedList"/>
    <dgm:cxn modelId="{B39E5808-DCC8-4A64-BB5B-13DB51A24024}" type="presParOf" srcId="{9487C103-5376-4372-AE90-DDE376085911}" destId="{D37D0B9A-590C-47FD-9D70-0304F700B3E8}" srcOrd="1" destOrd="0" presId="urn:microsoft.com/office/officeart/2008/layout/LinedList"/>
    <dgm:cxn modelId="{5D9CED2C-3481-4AD7-A5D9-CE0D99F198C9}" type="presParOf" srcId="{AE076634-D0C4-479C-B083-903BDFA5AE85}" destId="{7DEDE267-7ADA-4D0F-ABF2-341DC113CA50}" srcOrd="6" destOrd="0" presId="urn:microsoft.com/office/officeart/2008/layout/LinedList"/>
    <dgm:cxn modelId="{A426FB9F-45DD-4BD3-A764-BC5788DE8B22}" type="presParOf" srcId="{AE076634-D0C4-479C-B083-903BDFA5AE85}" destId="{CE06C5D5-F7E4-43EA-8C18-C68468EEAA20}" srcOrd="7" destOrd="0" presId="urn:microsoft.com/office/officeart/2008/layout/LinedList"/>
    <dgm:cxn modelId="{C24269F2-4F51-4BA7-9943-4B6C153BDF2D}" type="presParOf" srcId="{CE06C5D5-F7E4-43EA-8C18-C68468EEAA20}" destId="{AB2D0EAE-FD4F-4D9C-8AB4-9A8FFFE65224}" srcOrd="0" destOrd="0" presId="urn:microsoft.com/office/officeart/2008/layout/LinedList"/>
    <dgm:cxn modelId="{36C260AF-0084-4143-98AE-7946ACFB652A}" type="presParOf" srcId="{CE06C5D5-F7E4-43EA-8C18-C68468EEAA20}" destId="{F891624F-AF96-40D7-BE88-6A5FC0D2F7EA}" srcOrd="1" destOrd="0" presId="urn:microsoft.com/office/officeart/2008/layout/LinedList"/>
    <dgm:cxn modelId="{E820B837-31B3-4B29-92B1-90EDB0348997}" type="presParOf" srcId="{AE076634-D0C4-479C-B083-903BDFA5AE85}" destId="{21DE8367-00B3-451F-93C0-04BC104BA0D6}" srcOrd="8" destOrd="0" presId="urn:microsoft.com/office/officeart/2008/layout/LinedList"/>
    <dgm:cxn modelId="{1ABBEF7C-82BA-4375-9E05-9BBAD1EE6AA7}" type="presParOf" srcId="{AE076634-D0C4-479C-B083-903BDFA5AE85}" destId="{D5D09E67-94AC-42C7-9140-3483D65F4157}" srcOrd="9" destOrd="0" presId="urn:microsoft.com/office/officeart/2008/layout/LinedList"/>
    <dgm:cxn modelId="{1D583D7A-2BEE-4D58-90E0-497112F3A530}" type="presParOf" srcId="{D5D09E67-94AC-42C7-9140-3483D65F4157}" destId="{965301A4-8BB4-44A2-BDB3-454885E36714}" srcOrd="0" destOrd="0" presId="urn:microsoft.com/office/officeart/2008/layout/LinedList"/>
    <dgm:cxn modelId="{A406B0E0-2397-47AD-9913-85BF8238E1DE}" type="presParOf" srcId="{D5D09E67-94AC-42C7-9140-3483D65F4157}" destId="{8C74BDD4-1C94-4619-8EB2-CA3AF14099B6}" srcOrd="1" destOrd="0" presId="urn:microsoft.com/office/officeart/2008/layout/LinedList"/>
    <dgm:cxn modelId="{B8730550-269D-4F91-8050-708D14540639}" type="presParOf" srcId="{AE076634-D0C4-479C-B083-903BDFA5AE85}" destId="{89045616-869E-4448-BD4C-7DAC4F2500D1}" srcOrd="10" destOrd="0" presId="urn:microsoft.com/office/officeart/2008/layout/LinedList"/>
    <dgm:cxn modelId="{874F47AF-0951-4A60-BC4D-A6F37C7612C9}" type="presParOf" srcId="{AE076634-D0C4-479C-B083-903BDFA5AE85}" destId="{EF0B7E33-EB44-4C5D-8DA3-B3A69AE5F806}" srcOrd="11" destOrd="0" presId="urn:microsoft.com/office/officeart/2008/layout/LinedList"/>
    <dgm:cxn modelId="{4DC87D4A-C743-4CF2-AECC-9C06879E6FBE}" type="presParOf" srcId="{EF0B7E33-EB44-4C5D-8DA3-B3A69AE5F806}" destId="{CFDF13CF-5DF7-4299-BD33-46349C0E8F0C}" srcOrd="0" destOrd="0" presId="urn:microsoft.com/office/officeart/2008/layout/LinedList"/>
    <dgm:cxn modelId="{416EF229-5B9C-43AC-BE33-6BCE5D18976B}" type="presParOf" srcId="{EF0B7E33-EB44-4C5D-8DA3-B3A69AE5F806}" destId="{58B38CA8-481F-43CA-A168-A2E16F77D2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E3E803-BCB8-4026-A29B-AC37600BDF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6AB8E2-4AFC-4FE5-A789-A83CDC832B3A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how raw detector data maps directly to 2D image coordinates.</a:t>
          </a:r>
          <a:endParaRPr lang="en-US" sz="2000" dirty="0">
            <a:latin typeface="+mj-lt"/>
          </a:endParaRPr>
        </a:p>
      </dgm:t>
    </dgm:pt>
    <dgm:pt modelId="{434104DD-4226-43C8-88A4-29E7D58D3428}" type="parTrans" cxnId="{B6987B6B-A794-49CD-8971-514BC0246436}">
      <dgm:prSet/>
      <dgm:spPr/>
      <dgm:t>
        <a:bodyPr/>
        <a:lstStyle/>
        <a:p>
          <a:endParaRPr lang="en-US"/>
        </a:p>
      </dgm:t>
    </dgm:pt>
    <dgm:pt modelId="{239A3665-F292-4C84-81D0-21E16149D2DA}" type="sibTrans" cxnId="{B6987B6B-A794-49CD-8971-514BC0246436}">
      <dgm:prSet/>
      <dgm:spPr/>
      <dgm:t>
        <a:bodyPr/>
        <a:lstStyle/>
        <a:p>
          <a:endParaRPr lang="en-US"/>
        </a:p>
      </dgm:t>
    </dgm:pt>
    <dgm:pt modelId="{E7F49A5B-BCF1-4959-95CA-1872D97826EB}">
      <dgm:prSet custT="1"/>
      <dgm:spPr/>
      <dgm:t>
        <a:bodyPr/>
        <a:lstStyle/>
        <a:p>
          <a:r>
            <a: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to access an exact pixel value using row–column indexing</a:t>
          </a:r>
          <a:r>
            <a:rPr lang="en-US" sz="1900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B06E96-E975-4F70-84E9-4811AD426B54}" type="parTrans" cxnId="{08DFFA30-E5A8-44D0-99B8-E8BA1C2C349D}">
      <dgm:prSet/>
      <dgm:spPr/>
      <dgm:t>
        <a:bodyPr/>
        <a:lstStyle/>
        <a:p>
          <a:endParaRPr lang="en-US"/>
        </a:p>
      </dgm:t>
    </dgm:pt>
    <dgm:pt modelId="{5C556338-E528-4783-ADAF-FBE43FADDFDD}" type="sibTrans" cxnId="{08DFFA30-E5A8-44D0-99B8-E8BA1C2C349D}">
      <dgm:prSet/>
      <dgm:spPr/>
      <dgm:t>
        <a:bodyPr/>
        <a:lstStyle/>
        <a:p>
          <a:endParaRPr lang="en-US"/>
        </a:p>
      </dgm:t>
    </dgm:pt>
    <dgm:pt modelId="{96081A2E-A7BC-4E78-9E02-22F9304B1E66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Gained clarity on the importance of correct memory layout interpretation.</a:t>
          </a:r>
        </a:p>
        <a:p>
          <a:pPr>
            <a:buClrTx/>
            <a:buSzTx/>
            <a:buFontTx/>
            <a:buChar char="•"/>
          </a:pPr>
          <a:endParaRPr lang="en-US" sz="2000" dirty="0"/>
        </a:p>
      </dgm:t>
    </dgm:pt>
    <dgm:pt modelId="{369A2B6A-3E7B-4600-AE62-B8BF4683D066}" type="parTrans" cxnId="{83746956-80A2-4E7C-B824-E82DF0FBF01D}">
      <dgm:prSet/>
      <dgm:spPr/>
      <dgm:t>
        <a:bodyPr/>
        <a:lstStyle/>
        <a:p>
          <a:endParaRPr lang="en-US"/>
        </a:p>
      </dgm:t>
    </dgm:pt>
    <dgm:pt modelId="{FEDE1549-203B-457B-8B0D-FD9AC27B8399}" type="sibTrans" cxnId="{83746956-80A2-4E7C-B824-E82DF0FBF01D}">
      <dgm:prSet/>
      <dgm:spPr/>
      <dgm:t>
        <a:bodyPr/>
        <a:lstStyle/>
        <a:p>
          <a:endParaRPr lang="en-US"/>
        </a:p>
      </dgm:t>
    </dgm:pt>
    <dgm:pt modelId="{4FB5C2A5-08AA-4350-8E03-D0247D737B8D}">
      <dgm:prSet custT="1"/>
      <dgm:spPr/>
      <dgm:t>
        <a:bodyPr/>
        <a:lstStyle/>
        <a:p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Verified pixel values programmatically against visualization tools.</a:t>
          </a:r>
        </a:p>
      </dgm:t>
    </dgm:pt>
    <dgm:pt modelId="{4400C80A-E45E-402A-BBDA-7179AAD18CE0}" type="parTrans" cxnId="{EE4F977E-945D-4C86-BB97-E7817DD094E9}">
      <dgm:prSet/>
      <dgm:spPr/>
      <dgm:t>
        <a:bodyPr/>
        <a:lstStyle/>
        <a:p>
          <a:endParaRPr lang="en-US"/>
        </a:p>
      </dgm:t>
    </dgm:pt>
    <dgm:pt modelId="{0DB6230B-B7B8-4AD0-8158-85F460897EE2}" type="sibTrans" cxnId="{EE4F977E-945D-4C86-BB97-E7817DD094E9}">
      <dgm:prSet/>
      <dgm:spPr/>
      <dgm:t>
        <a:bodyPr/>
        <a:lstStyle/>
        <a:p>
          <a:endParaRPr lang="en-US"/>
        </a:p>
      </dgm:t>
    </dgm:pt>
    <dgm:pt modelId="{09D65AA5-D9E5-40CD-8D39-58E0ACC10D29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ADU values represent detector signal intensity.</a:t>
          </a:r>
          <a:endParaRPr lang="en-US" sz="2000" dirty="0">
            <a:latin typeface="+mj-lt"/>
          </a:endParaRPr>
        </a:p>
      </dgm:t>
    </dgm:pt>
    <dgm:pt modelId="{094E7D4F-A2F9-42ED-A1CA-AB84667D9133}" type="parTrans" cxnId="{5029C9E3-5AE5-49FB-931F-2B40E4A92A06}">
      <dgm:prSet/>
      <dgm:spPr/>
      <dgm:t>
        <a:bodyPr/>
        <a:lstStyle/>
        <a:p>
          <a:endParaRPr lang="en-US"/>
        </a:p>
      </dgm:t>
    </dgm:pt>
    <dgm:pt modelId="{2C3061CA-9D7D-43CD-8DD2-3C3851C369B5}" type="sibTrans" cxnId="{5029C9E3-5AE5-49FB-931F-2B40E4A92A06}">
      <dgm:prSet/>
      <dgm:spPr/>
      <dgm:t>
        <a:bodyPr/>
        <a:lstStyle/>
        <a:p>
          <a:endParaRPr lang="en-US"/>
        </a:p>
      </dgm:t>
    </dgm:pt>
    <dgm:pt modelId="{9CD6598D-6A7D-49E5-912E-A56974319C34}">
      <dgm:prSet custT="1"/>
      <dgm:spPr/>
      <dgm:t>
        <a:bodyPr/>
        <a:lstStyle/>
        <a:p>
          <a:r>
            <a:rPr lang="en-US" sz="2000" b="1" i="0" baseline="0" dirty="0">
              <a:latin typeface="+mj-lt"/>
            </a:rPr>
            <a:t>CODE : </a:t>
          </a:r>
          <a:r>
            <a:rPr lang="en-US" sz="2000" dirty="0">
              <a:hlinkClick xmlns:r="http://schemas.openxmlformats.org/officeDocument/2006/relationships" r:id="rId1"/>
            </a:rPr>
            <a:t>Sahithi/</a:t>
          </a:r>
          <a:r>
            <a:rPr lang="en-US" sz="20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dirty="0">
              <a:hlinkClick xmlns:r="http://schemas.openxmlformats.org/officeDocument/2006/relationships" r:id="rId1"/>
            </a:rPr>
            <a:t>/Code &amp; </a:t>
          </a:r>
          <a:r>
            <a:rPr lang="en-US" sz="2000" dirty="0" err="1">
              <a:hlinkClick xmlns:r="http://schemas.openxmlformats.org/officeDocument/2006/relationships" r:id="rId1"/>
            </a:rPr>
            <a:t>Output_images</a:t>
          </a:r>
          <a:endParaRPr lang="en-US" sz="1300" dirty="0"/>
        </a:p>
      </dgm:t>
    </dgm:pt>
    <dgm:pt modelId="{7459CAD5-0601-47EF-B0F1-8DC222EB8C16}" type="parTrans" cxnId="{CCB49F7C-5937-4543-AE83-764828CAC63D}">
      <dgm:prSet/>
      <dgm:spPr/>
      <dgm:t>
        <a:bodyPr/>
        <a:lstStyle/>
        <a:p>
          <a:endParaRPr lang="en-US"/>
        </a:p>
      </dgm:t>
    </dgm:pt>
    <dgm:pt modelId="{DE6C2A2F-B8A7-4C25-9E1C-F860BF311D78}" type="sibTrans" cxnId="{CCB49F7C-5937-4543-AE83-764828CAC63D}">
      <dgm:prSet/>
      <dgm:spPr/>
      <dgm:t>
        <a:bodyPr/>
        <a:lstStyle/>
        <a:p>
          <a:endParaRPr lang="en-US"/>
        </a:p>
      </dgm:t>
    </dgm:pt>
    <dgm:pt modelId="{AE076634-D0C4-479C-B083-903BDFA5AE85}" type="pres">
      <dgm:prSet presAssocID="{69E3E803-BCB8-4026-A29B-AC37600BDFC1}" presName="vert0" presStyleCnt="0">
        <dgm:presLayoutVars>
          <dgm:dir/>
          <dgm:animOne val="branch"/>
          <dgm:animLvl val="lvl"/>
        </dgm:presLayoutVars>
      </dgm:prSet>
      <dgm:spPr/>
    </dgm:pt>
    <dgm:pt modelId="{0B639FD2-7E7C-49EB-A161-A4D4689011F6}" type="pres">
      <dgm:prSet presAssocID="{BB6AB8E2-4AFC-4FE5-A789-A83CDC832B3A}" presName="thickLine" presStyleLbl="alignNode1" presStyleIdx="0" presStyleCnt="6"/>
      <dgm:spPr/>
    </dgm:pt>
    <dgm:pt modelId="{21EFE964-DBB3-452C-BD41-B30B8189863C}" type="pres">
      <dgm:prSet presAssocID="{BB6AB8E2-4AFC-4FE5-A789-A83CDC832B3A}" presName="horz1" presStyleCnt="0"/>
      <dgm:spPr/>
    </dgm:pt>
    <dgm:pt modelId="{5675E643-D3E3-4E8C-8721-AC4883AB1B58}" type="pres">
      <dgm:prSet presAssocID="{BB6AB8E2-4AFC-4FE5-A789-A83CDC832B3A}" presName="tx1" presStyleLbl="revTx" presStyleIdx="0" presStyleCnt="6"/>
      <dgm:spPr/>
    </dgm:pt>
    <dgm:pt modelId="{834F2BC6-634E-42EC-9843-1FF06794DCCC}" type="pres">
      <dgm:prSet presAssocID="{BB6AB8E2-4AFC-4FE5-A789-A83CDC832B3A}" presName="vert1" presStyleCnt="0"/>
      <dgm:spPr/>
    </dgm:pt>
    <dgm:pt modelId="{C0B92A8C-10CC-430F-859A-937A3C09D90E}" type="pres">
      <dgm:prSet presAssocID="{E7F49A5B-BCF1-4959-95CA-1872D97826EB}" presName="thickLine" presStyleLbl="alignNode1" presStyleIdx="1" presStyleCnt="6"/>
      <dgm:spPr/>
    </dgm:pt>
    <dgm:pt modelId="{F9394280-9A6E-4135-828C-CD1AC54C8692}" type="pres">
      <dgm:prSet presAssocID="{E7F49A5B-BCF1-4959-95CA-1872D97826EB}" presName="horz1" presStyleCnt="0"/>
      <dgm:spPr/>
    </dgm:pt>
    <dgm:pt modelId="{315FD07D-CAD4-42CE-BCD5-D5D640C5B287}" type="pres">
      <dgm:prSet presAssocID="{E7F49A5B-BCF1-4959-95CA-1872D97826EB}" presName="tx1" presStyleLbl="revTx" presStyleIdx="1" presStyleCnt="6"/>
      <dgm:spPr/>
    </dgm:pt>
    <dgm:pt modelId="{596009BC-C06F-41B0-B76D-A327EFBB14A8}" type="pres">
      <dgm:prSet presAssocID="{E7F49A5B-BCF1-4959-95CA-1872D97826EB}" presName="vert1" presStyleCnt="0"/>
      <dgm:spPr/>
    </dgm:pt>
    <dgm:pt modelId="{5BD9B091-2352-4E66-A9A8-341BD53F0CC2}" type="pres">
      <dgm:prSet presAssocID="{96081A2E-A7BC-4E78-9E02-22F9304B1E66}" presName="thickLine" presStyleLbl="alignNode1" presStyleIdx="2" presStyleCnt="6"/>
      <dgm:spPr/>
    </dgm:pt>
    <dgm:pt modelId="{9487C103-5376-4372-AE90-DDE376085911}" type="pres">
      <dgm:prSet presAssocID="{96081A2E-A7BC-4E78-9E02-22F9304B1E66}" presName="horz1" presStyleCnt="0"/>
      <dgm:spPr/>
    </dgm:pt>
    <dgm:pt modelId="{A27905AE-14EA-4510-9BEF-93645D9C4721}" type="pres">
      <dgm:prSet presAssocID="{96081A2E-A7BC-4E78-9E02-22F9304B1E66}" presName="tx1" presStyleLbl="revTx" presStyleIdx="2" presStyleCnt="6"/>
      <dgm:spPr/>
    </dgm:pt>
    <dgm:pt modelId="{D37D0B9A-590C-47FD-9D70-0304F700B3E8}" type="pres">
      <dgm:prSet presAssocID="{96081A2E-A7BC-4E78-9E02-22F9304B1E66}" presName="vert1" presStyleCnt="0"/>
      <dgm:spPr/>
    </dgm:pt>
    <dgm:pt modelId="{7DEDE267-7ADA-4D0F-ABF2-341DC113CA50}" type="pres">
      <dgm:prSet presAssocID="{4FB5C2A5-08AA-4350-8E03-D0247D737B8D}" presName="thickLine" presStyleLbl="alignNode1" presStyleIdx="3" presStyleCnt="6"/>
      <dgm:spPr/>
    </dgm:pt>
    <dgm:pt modelId="{CE06C5D5-F7E4-43EA-8C18-C68468EEAA20}" type="pres">
      <dgm:prSet presAssocID="{4FB5C2A5-08AA-4350-8E03-D0247D737B8D}" presName="horz1" presStyleCnt="0"/>
      <dgm:spPr/>
    </dgm:pt>
    <dgm:pt modelId="{AB2D0EAE-FD4F-4D9C-8AB4-9A8FFFE65224}" type="pres">
      <dgm:prSet presAssocID="{4FB5C2A5-08AA-4350-8E03-D0247D737B8D}" presName="tx1" presStyleLbl="revTx" presStyleIdx="3" presStyleCnt="6"/>
      <dgm:spPr/>
    </dgm:pt>
    <dgm:pt modelId="{F891624F-AF96-40D7-BE88-6A5FC0D2F7EA}" type="pres">
      <dgm:prSet presAssocID="{4FB5C2A5-08AA-4350-8E03-D0247D737B8D}" presName="vert1" presStyleCnt="0"/>
      <dgm:spPr/>
    </dgm:pt>
    <dgm:pt modelId="{21DE8367-00B3-451F-93C0-04BC104BA0D6}" type="pres">
      <dgm:prSet presAssocID="{09D65AA5-D9E5-40CD-8D39-58E0ACC10D29}" presName="thickLine" presStyleLbl="alignNode1" presStyleIdx="4" presStyleCnt="6"/>
      <dgm:spPr/>
    </dgm:pt>
    <dgm:pt modelId="{D5D09E67-94AC-42C7-9140-3483D65F4157}" type="pres">
      <dgm:prSet presAssocID="{09D65AA5-D9E5-40CD-8D39-58E0ACC10D29}" presName="horz1" presStyleCnt="0"/>
      <dgm:spPr/>
    </dgm:pt>
    <dgm:pt modelId="{965301A4-8BB4-44A2-BDB3-454885E36714}" type="pres">
      <dgm:prSet presAssocID="{09D65AA5-D9E5-40CD-8D39-58E0ACC10D29}" presName="tx1" presStyleLbl="revTx" presStyleIdx="4" presStyleCnt="6"/>
      <dgm:spPr/>
    </dgm:pt>
    <dgm:pt modelId="{8C74BDD4-1C94-4619-8EB2-CA3AF14099B6}" type="pres">
      <dgm:prSet presAssocID="{09D65AA5-D9E5-40CD-8D39-58E0ACC10D29}" presName="vert1" presStyleCnt="0"/>
      <dgm:spPr/>
    </dgm:pt>
    <dgm:pt modelId="{89045616-869E-4448-BD4C-7DAC4F2500D1}" type="pres">
      <dgm:prSet presAssocID="{9CD6598D-6A7D-49E5-912E-A56974319C34}" presName="thickLine" presStyleLbl="alignNode1" presStyleIdx="5" presStyleCnt="6"/>
      <dgm:spPr/>
    </dgm:pt>
    <dgm:pt modelId="{EF0B7E33-EB44-4C5D-8DA3-B3A69AE5F806}" type="pres">
      <dgm:prSet presAssocID="{9CD6598D-6A7D-49E5-912E-A56974319C34}" presName="horz1" presStyleCnt="0"/>
      <dgm:spPr/>
    </dgm:pt>
    <dgm:pt modelId="{CFDF13CF-5DF7-4299-BD33-46349C0E8F0C}" type="pres">
      <dgm:prSet presAssocID="{9CD6598D-6A7D-49E5-912E-A56974319C34}" presName="tx1" presStyleLbl="revTx" presStyleIdx="5" presStyleCnt="6"/>
      <dgm:spPr/>
    </dgm:pt>
    <dgm:pt modelId="{58B38CA8-481F-43CA-A168-A2E16F77D288}" type="pres">
      <dgm:prSet presAssocID="{9CD6598D-6A7D-49E5-912E-A56974319C34}" presName="vert1" presStyleCnt="0"/>
      <dgm:spPr/>
    </dgm:pt>
  </dgm:ptLst>
  <dgm:cxnLst>
    <dgm:cxn modelId="{B7512621-BE9E-4899-A4B7-E0A2ADB5C019}" type="presOf" srcId="{69E3E803-BCB8-4026-A29B-AC37600BDFC1}" destId="{AE076634-D0C4-479C-B083-903BDFA5AE85}" srcOrd="0" destOrd="0" presId="urn:microsoft.com/office/officeart/2008/layout/LinedList"/>
    <dgm:cxn modelId="{50946828-2F1B-4F07-93E1-AB8EE3C73AF8}" type="presOf" srcId="{9CD6598D-6A7D-49E5-912E-A56974319C34}" destId="{CFDF13CF-5DF7-4299-BD33-46349C0E8F0C}" srcOrd="0" destOrd="0" presId="urn:microsoft.com/office/officeart/2008/layout/LinedList"/>
    <dgm:cxn modelId="{08DFFA30-E5A8-44D0-99B8-E8BA1C2C349D}" srcId="{69E3E803-BCB8-4026-A29B-AC37600BDFC1}" destId="{E7F49A5B-BCF1-4959-95CA-1872D97826EB}" srcOrd="1" destOrd="0" parTransId="{05B06E96-E975-4F70-84E9-4811AD426B54}" sibTransId="{5C556338-E528-4783-ADAF-FBE43FADDFDD}"/>
    <dgm:cxn modelId="{43E89E61-22ED-498C-A768-92FEFB7D5BE2}" type="presOf" srcId="{4FB5C2A5-08AA-4350-8E03-D0247D737B8D}" destId="{AB2D0EAE-FD4F-4D9C-8AB4-9A8FFFE65224}" srcOrd="0" destOrd="0" presId="urn:microsoft.com/office/officeart/2008/layout/LinedList"/>
    <dgm:cxn modelId="{07BCB065-D493-41A6-9D7D-13D66B2BC0EA}" type="presOf" srcId="{E7F49A5B-BCF1-4959-95CA-1872D97826EB}" destId="{315FD07D-CAD4-42CE-BCD5-D5D640C5B287}" srcOrd="0" destOrd="0" presId="urn:microsoft.com/office/officeart/2008/layout/LinedList"/>
    <dgm:cxn modelId="{B6987B6B-A794-49CD-8971-514BC0246436}" srcId="{69E3E803-BCB8-4026-A29B-AC37600BDFC1}" destId="{BB6AB8E2-4AFC-4FE5-A789-A83CDC832B3A}" srcOrd="0" destOrd="0" parTransId="{434104DD-4226-43C8-88A4-29E7D58D3428}" sibTransId="{239A3665-F292-4C84-81D0-21E16149D2DA}"/>
    <dgm:cxn modelId="{83746956-80A2-4E7C-B824-E82DF0FBF01D}" srcId="{69E3E803-BCB8-4026-A29B-AC37600BDFC1}" destId="{96081A2E-A7BC-4E78-9E02-22F9304B1E66}" srcOrd="2" destOrd="0" parTransId="{369A2B6A-3E7B-4600-AE62-B8BF4683D066}" sibTransId="{FEDE1549-203B-457B-8B0D-FD9AC27B8399}"/>
    <dgm:cxn modelId="{CCB49F7C-5937-4543-AE83-764828CAC63D}" srcId="{69E3E803-BCB8-4026-A29B-AC37600BDFC1}" destId="{9CD6598D-6A7D-49E5-912E-A56974319C34}" srcOrd="5" destOrd="0" parTransId="{7459CAD5-0601-47EF-B0F1-8DC222EB8C16}" sibTransId="{DE6C2A2F-B8A7-4C25-9E1C-F860BF311D78}"/>
    <dgm:cxn modelId="{EE4F977E-945D-4C86-BB97-E7817DD094E9}" srcId="{69E3E803-BCB8-4026-A29B-AC37600BDFC1}" destId="{4FB5C2A5-08AA-4350-8E03-D0247D737B8D}" srcOrd="3" destOrd="0" parTransId="{4400C80A-E45E-402A-BBDA-7179AAD18CE0}" sibTransId="{0DB6230B-B7B8-4AD0-8158-85F460897EE2}"/>
    <dgm:cxn modelId="{6A5055A9-590E-4436-8052-DA283E3372B3}" type="presOf" srcId="{96081A2E-A7BC-4E78-9E02-22F9304B1E66}" destId="{A27905AE-14EA-4510-9BEF-93645D9C4721}" srcOrd="0" destOrd="0" presId="urn:microsoft.com/office/officeart/2008/layout/LinedList"/>
    <dgm:cxn modelId="{863967E2-D99E-46DD-8478-7E1BE418C4AD}" type="presOf" srcId="{BB6AB8E2-4AFC-4FE5-A789-A83CDC832B3A}" destId="{5675E643-D3E3-4E8C-8721-AC4883AB1B58}" srcOrd="0" destOrd="0" presId="urn:microsoft.com/office/officeart/2008/layout/LinedList"/>
    <dgm:cxn modelId="{5029C9E3-5AE5-49FB-931F-2B40E4A92A06}" srcId="{69E3E803-BCB8-4026-A29B-AC37600BDFC1}" destId="{09D65AA5-D9E5-40CD-8D39-58E0ACC10D29}" srcOrd="4" destOrd="0" parTransId="{094E7D4F-A2F9-42ED-A1CA-AB84667D9133}" sibTransId="{2C3061CA-9D7D-43CD-8DD2-3C3851C369B5}"/>
    <dgm:cxn modelId="{6BEF45EF-41B0-44FD-9415-A6660EA6B22D}" type="presOf" srcId="{09D65AA5-D9E5-40CD-8D39-58E0ACC10D29}" destId="{965301A4-8BB4-44A2-BDB3-454885E36714}" srcOrd="0" destOrd="0" presId="urn:microsoft.com/office/officeart/2008/layout/LinedList"/>
    <dgm:cxn modelId="{F332B9E2-DA12-432D-BCF4-7D13C373424F}" type="presParOf" srcId="{AE076634-D0C4-479C-B083-903BDFA5AE85}" destId="{0B639FD2-7E7C-49EB-A161-A4D4689011F6}" srcOrd="0" destOrd="0" presId="urn:microsoft.com/office/officeart/2008/layout/LinedList"/>
    <dgm:cxn modelId="{9EAEFB3D-9541-452A-9596-3997EDBF97EA}" type="presParOf" srcId="{AE076634-D0C4-479C-B083-903BDFA5AE85}" destId="{21EFE964-DBB3-452C-BD41-B30B8189863C}" srcOrd="1" destOrd="0" presId="urn:microsoft.com/office/officeart/2008/layout/LinedList"/>
    <dgm:cxn modelId="{027CE8D7-9196-415A-A4D2-2A9CB12B0DB4}" type="presParOf" srcId="{21EFE964-DBB3-452C-BD41-B30B8189863C}" destId="{5675E643-D3E3-4E8C-8721-AC4883AB1B58}" srcOrd="0" destOrd="0" presId="urn:microsoft.com/office/officeart/2008/layout/LinedList"/>
    <dgm:cxn modelId="{807A58CF-6469-4FFF-BB5F-70075B1C9A57}" type="presParOf" srcId="{21EFE964-DBB3-452C-BD41-B30B8189863C}" destId="{834F2BC6-634E-42EC-9843-1FF06794DCCC}" srcOrd="1" destOrd="0" presId="urn:microsoft.com/office/officeart/2008/layout/LinedList"/>
    <dgm:cxn modelId="{6B1AFACD-AA72-4107-AFE5-A5A56AD6E492}" type="presParOf" srcId="{AE076634-D0C4-479C-B083-903BDFA5AE85}" destId="{C0B92A8C-10CC-430F-859A-937A3C09D90E}" srcOrd="2" destOrd="0" presId="urn:microsoft.com/office/officeart/2008/layout/LinedList"/>
    <dgm:cxn modelId="{6FEA3AE7-7519-437B-874B-3686BD49A5DE}" type="presParOf" srcId="{AE076634-D0C4-479C-B083-903BDFA5AE85}" destId="{F9394280-9A6E-4135-828C-CD1AC54C8692}" srcOrd="3" destOrd="0" presId="urn:microsoft.com/office/officeart/2008/layout/LinedList"/>
    <dgm:cxn modelId="{809A75E0-1402-4CF6-9EBB-A2736566F7EB}" type="presParOf" srcId="{F9394280-9A6E-4135-828C-CD1AC54C8692}" destId="{315FD07D-CAD4-42CE-BCD5-D5D640C5B287}" srcOrd="0" destOrd="0" presId="urn:microsoft.com/office/officeart/2008/layout/LinedList"/>
    <dgm:cxn modelId="{6982BB16-14B1-4DD4-B5AC-86EEB50BB6C3}" type="presParOf" srcId="{F9394280-9A6E-4135-828C-CD1AC54C8692}" destId="{596009BC-C06F-41B0-B76D-A327EFBB14A8}" srcOrd="1" destOrd="0" presId="urn:microsoft.com/office/officeart/2008/layout/LinedList"/>
    <dgm:cxn modelId="{16D45759-1E71-419F-8839-47A78B068C37}" type="presParOf" srcId="{AE076634-D0C4-479C-B083-903BDFA5AE85}" destId="{5BD9B091-2352-4E66-A9A8-341BD53F0CC2}" srcOrd="4" destOrd="0" presId="urn:microsoft.com/office/officeart/2008/layout/LinedList"/>
    <dgm:cxn modelId="{C9C0BC61-5401-4DE9-8B7A-AAB8079172A0}" type="presParOf" srcId="{AE076634-D0C4-479C-B083-903BDFA5AE85}" destId="{9487C103-5376-4372-AE90-DDE376085911}" srcOrd="5" destOrd="0" presId="urn:microsoft.com/office/officeart/2008/layout/LinedList"/>
    <dgm:cxn modelId="{3024FB63-63C9-496C-B3A1-53ADF4B12CFE}" type="presParOf" srcId="{9487C103-5376-4372-AE90-DDE376085911}" destId="{A27905AE-14EA-4510-9BEF-93645D9C4721}" srcOrd="0" destOrd="0" presId="urn:microsoft.com/office/officeart/2008/layout/LinedList"/>
    <dgm:cxn modelId="{B39E5808-DCC8-4A64-BB5B-13DB51A24024}" type="presParOf" srcId="{9487C103-5376-4372-AE90-DDE376085911}" destId="{D37D0B9A-590C-47FD-9D70-0304F700B3E8}" srcOrd="1" destOrd="0" presId="urn:microsoft.com/office/officeart/2008/layout/LinedList"/>
    <dgm:cxn modelId="{5D9CED2C-3481-4AD7-A5D9-CE0D99F198C9}" type="presParOf" srcId="{AE076634-D0C4-479C-B083-903BDFA5AE85}" destId="{7DEDE267-7ADA-4D0F-ABF2-341DC113CA50}" srcOrd="6" destOrd="0" presId="urn:microsoft.com/office/officeart/2008/layout/LinedList"/>
    <dgm:cxn modelId="{A426FB9F-45DD-4BD3-A764-BC5788DE8B22}" type="presParOf" srcId="{AE076634-D0C4-479C-B083-903BDFA5AE85}" destId="{CE06C5D5-F7E4-43EA-8C18-C68468EEAA20}" srcOrd="7" destOrd="0" presId="urn:microsoft.com/office/officeart/2008/layout/LinedList"/>
    <dgm:cxn modelId="{C24269F2-4F51-4BA7-9943-4B6C153BDF2D}" type="presParOf" srcId="{CE06C5D5-F7E4-43EA-8C18-C68468EEAA20}" destId="{AB2D0EAE-FD4F-4D9C-8AB4-9A8FFFE65224}" srcOrd="0" destOrd="0" presId="urn:microsoft.com/office/officeart/2008/layout/LinedList"/>
    <dgm:cxn modelId="{36C260AF-0084-4143-98AE-7946ACFB652A}" type="presParOf" srcId="{CE06C5D5-F7E4-43EA-8C18-C68468EEAA20}" destId="{F891624F-AF96-40D7-BE88-6A5FC0D2F7EA}" srcOrd="1" destOrd="0" presId="urn:microsoft.com/office/officeart/2008/layout/LinedList"/>
    <dgm:cxn modelId="{E820B837-31B3-4B29-92B1-90EDB0348997}" type="presParOf" srcId="{AE076634-D0C4-479C-B083-903BDFA5AE85}" destId="{21DE8367-00B3-451F-93C0-04BC104BA0D6}" srcOrd="8" destOrd="0" presId="urn:microsoft.com/office/officeart/2008/layout/LinedList"/>
    <dgm:cxn modelId="{1ABBEF7C-82BA-4375-9E05-9BBAD1EE6AA7}" type="presParOf" srcId="{AE076634-D0C4-479C-B083-903BDFA5AE85}" destId="{D5D09E67-94AC-42C7-9140-3483D65F4157}" srcOrd="9" destOrd="0" presId="urn:microsoft.com/office/officeart/2008/layout/LinedList"/>
    <dgm:cxn modelId="{1D583D7A-2BEE-4D58-90E0-497112F3A530}" type="presParOf" srcId="{D5D09E67-94AC-42C7-9140-3483D65F4157}" destId="{965301A4-8BB4-44A2-BDB3-454885E36714}" srcOrd="0" destOrd="0" presId="urn:microsoft.com/office/officeart/2008/layout/LinedList"/>
    <dgm:cxn modelId="{A406B0E0-2397-47AD-9913-85BF8238E1DE}" type="presParOf" srcId="{D5D09E67-94AC-42C7-9140-3483D65F4157}" destId="{8C74BDD4-1C94-4619-8EB2-CA3AF14099B6}" srcOrd="1" destOrd="0" presId="urn:microsoft.com/office/officeart/2008/layout/LinedList"/>
    <dgm:cxn modelId="{B8730550-269D-4F91-8050-708D14540639}" type="presParOf" srcId="{AE076634-D0C4-479C-B083-903BDFA5AE85}" destId="{89045616-869E-4448-BD4C-7DAC4F2500D1}" srcOrd="10" destOrd="0" presId="urn:microsoft.com/office/officeart/2008/layout/LinedList"/>
    <dgm:cxn modelId="{874F47AF-0951-4A60-BC4D-A6F37C7612C9}" type="presParOf" srcId="{AE076634-D0C4-479C-B083-903BDFA5AE85}" destId="{EF0B7E33-EB44-4C5D-8DA3-B3A69AE5F806}" srcOrd="11" destOrd="0" presId="urn:microsoft.com/office/officeart/2008/layout/LinedList"/>
    <dgm:cxn modelId="{4DC87D4A-C743-4CF2-AECC-9C06879E6FBE}" type="presParOf" srcId="{EF0B7E33-EB44-4C5D-8DA3-B3A69AE5F806}" destId="{CFDF13CF-5DF7-4299-BD33-46349C0E8F0C}" srcOrd="0" destOrd="0" presId="urn:microsoft.com/office/officeart/2008/layout/LinedList"/>
    <dgm:cxn modelId="{416EF229-5B9C-43AC-BE33-6BCE5D18976B}" type="presParOf" srcId="{EF0B7E33-EB44-4C5D-8DA3-B3A69AE5F806}" destId="{58B38CA8-481F-43CA-A168-A2E16F77D2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E3E803-BCB8-4026-A29B-AC37600BDF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6AB8E2-4AFC-4FE5-A789-A83CDC832B3A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how raw detector data maps directly to 2D image coordinates.</a:t>
          </a:r>
          <a:endParaRPr lang="en-US" sz="2000" dirty="0">
            <a:latin typeface="+mj-lt"/>
          </a:endParaRPr>
        </a:p>
      </dgm:t>
    </dgm:pt>
    <dgm:pt modelId="{434104DD-4226-43C8-88A4-29E7D58D3428}" type="parTrans" cxnId="{B6987B6B-A794-49CD-8971-514BC0246436}">
      <dgm:prSet/>
      <dgm:spPr/>
      <dgm:t>
        <a:bodyPr/>
        <a:lstStyle/>
        <a:p>
          <a:endParaRPr lang="en-US"/>
        </a:p>
      </dgm:t>
    </dgm:pt>
    <dgm:pt modelId="{239A3665-F292-4C84-81D0-21E16149D2DA}" type="sibTrans" cxnId="{B6987B6B-A794-49CD-8971-514BC0246436}">
      <dgm:prSet/>
      <dgm:spPr/>
      <dgm:t>
        <a:bodyPr/>
        <a:lstStyle/>
        <a:p>
          <a:endParaRPr lang="en-US"/>
        </a:p>
      </dgm:t>
    </dgm:pt>
    <dgm:pt modelId="{E7F49A5B-BCF1-4959-95CA-1872D97826EB}">
      <dgm:prSet custT="1"/>
      <dgm:spPr/>
      <dgm:t>
        <a:bodyPr/>
        <a:lstStyle/>
        <a:p>
          <a:r>
            <a: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to access an exact pixel value using row–column indexing</a:t>
          </a:r>
          <a:r>
            <a:rPr lang="en-US" sz="1900" b="0" i="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5B06E96-E975-4F70-84E9-4811AD426B54}" type="parTrans" cxnId="{08DFFA30-E5A8-44D0-99B8-E8BA1C2C349D}">
      <dgm:prSet/>
      <dgm:spPr/>
      <dgm:t>
        <a:bodyPr/>
        <a:lstStyle/>
        <a:p>
          <a:endParaRPr lang="en-US"/>
        </a:p>
      </dgm:t>
    </dgm:pt>
    <dgm:pt modelId="{5C556338-E528-4783-ADAF-FBE43FADDFDD}" type="sibTrans" cxnId="{08DFFA30-E5A8-44D0-99B8-E8BA1C2C349D}">
      <dgm:prSet/>
      <dgm:spPr/>
      <dgm:t>
        <a:bodyPr/>
        <a:lstStyle/>
        <a:p>
          <a:endParaRPr lang="en-US"/>
        </a:p>
      </dgm:t>
    </dgm:pt>
    <dgm:pt modelId="{96081A2E-A7BC-4E78-9E02-22F9304B1E66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Gained clarity on the importance of correct memory layout interpretation.</a:t>
          </a:r>
        </a:p>
        <a:p>
          <a:pPr>
            <a:buClrTx/>
            <a:buSzTx/>
            <a:buFontTx/>
            <a:buChar char="•"/>
          </a:pPr>
          <a:endParaRPr lang="en-US" sz="2000" dirty="0"/>
        </a:p>
      </dgm:t>
    </dgm:pt>
    <dgm:pt modelId="{369A2B6A-3E7B-4600-AE62-B8BF4683D066}" type="parTrans" cxnId="{83746956-80A2-4E7C-B824-E82DF0FBF01D}">
      <dgm:prSet/>
      <dgm:spPr/>
      <dgm:t>
        <a:bodyPr/>
        <a:lstStyle/>
        <a:p>
          <a:endParaRPr lang="en-US"/>
        </a:p>
      </dgm:t>
    </dgm:pt>
    <dgm:pt modelId="{FEDE1549-203B-457B-8B0D-FD9AC27B8399}" type="sibTrans" cxnId="{83746956-80A2-4E7C-B824-E82DF0FBF01D}">
      <dgm:prSet/>
      <dgm:spPr/>
      <dgm:t>
        <a:bodyPr/>
        <a:lstStyle/>
        <a:p>
          <a:endParaRPr lang="en-US"/>
        </a:p>
      </dgm:t>
    </dgm:pt>
    <dgm:pt modelId="{4FB5C2A5-08AA-4350-8E03-D0247D737B8D}">
      <dgm:prSet custT="1"/>
      <dgm:spPr/>
      <dgm:t>
        <a:bodyPr/>
        <a:lstStyle/>
        <a:p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Verified pixel values programmatically against visualization tools.</a:t>
          </a:r>
        </a:p>
      </dgm:t>
    </dgm:pt>
    <dgm:pt modelId="{4400C80A-E45E-402A-BBDA-7179AAD18CE0}" type="parTrans" cxnId="{EE4F977E-945D-4C86-BB97-E7817DD094E9}">
      <dgm:prSet/>
      <dgm:spPr/>
      <dgm:t>
        <a:bodyPr/>
        <a:lstStyle/>
        <a:p>
          <a:endParaRPr lang="en-US"/>
        </a:p>
      </dgm:t>
    </dgm:pt>
    <dgm:pt modelId="{0DB6230B-B7B8-4AD0-8158-85F460897EE2}" type="sibTrans" cxnId="{EE4F977E-945D-4C86-BB97-E7817DD094E9}">
      <dgm:prSet/>
      <dgm:spPr/>
      <dgm:t>
        <a:bodyPr/>
        <a:lstStyle/>
        <a:p>
          <a:endParaRPr lang="en-US"/>
        </a:p>
      </dgm:t>
    </dgm:pt>
    <dgm:pt modelId="{09D65AA5-D9E5-40CD-8D39-58E0ACC10D29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ADU values represent detector signal intensity.    </a:t>
          </a:r>
          <a:endParaRPr lang="en-US" sz="2000" dirty="0">
            <a:latin typeface="+mj-lt"/>
          </a:endParaRPr>
        </a:p>
      </dgm:t>
    </dgm:pt>
    <dgm:pt modelId="{094E7D4F-A2F9-42ED-A1CA-AB84667D9133}" type="parTrans" cxnId="{5029C9E3-5AE5-49FB-931F-2B40E4A92A06}">
      <dgm:prSet/>
      <dgm:spPr/>
      <dgm:t>
        <a:bodyPr/>
        <a:lstStyle/>
        <a:p>
          <a:endParaRPr lang="en-US"/>
        </a:p>
      </dgm:t>
    </dgm:pt>
    <dgm:pt modelId="{2C3061CA-9D7D-43CD-8DD2-3C3851C369B5}" type="sibTrans" cxnId="{5029C9E3-5AE5-49FB-931F-2B40E4A92A06}">
      <dgm:prSet/>
      <dgm:spPr/>
      <dgm:t>
        <a:bodyPr/>
        <a:lstStyle/>
        <a:p>
          <a:endParaRPr lang="en-US"/>
        </a:p>
      </dgm:t>
    </dgm:pt>
    <dgm:pt modelId="{9CD6598D-6A7D-49E5-912E-A56974319C34}">
      <dgm:prSet custT="1"/>
      <dgm:spPr/>
      <dgm:t>
        <a:bodyPr/>
        <a:lstStyle/>
        <a:p>
          <a:r>
            <a:rPr lang="en-US" sz="2400" b="1" i="0" baseline="0" dirty="0">
              <a:latin typeface="+mj-lt"/>
            </a:rPr>
            <a:t>CODE </a:t>
          </a:r>
          <a:r>
            <a:rPr lang="en-US" sz="2000" b="1" i="0" baseline="0" dirty="0">
              <a:latin typeface="+mj-lt"/>
            </a:rPr>
            <a:t>: </a:t>
          </a:r>
          <a:r>
            <a:rPr lang="en-US" sz="2000" dirty="0">
              <a:hlinkClick xmlns:r="http://schemas.openxmlformats.org/officeDocument/2006/relationships" r:id="rId1"/>
            </a:rPr>
            <a:t>Sahithi/</a:t>
          </a:r>
          <a:r>
            <a:rPr lang="en-US" sz="20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dirty="0">
              <a:hlinkClick xmlns:r="http://schemas.openxmlformats.org/officeDocument/2006/relationships" r:id="rId1"/>
            </a:rPr>
            <a:t>/Code &amp; </a:t>
          </a:r>
          <a:r>
            <a:rPr lang="en-US" sz="2000" dirty="0" err="1">
              <a:hlinkClick xmlns:r="http://schemas.openxmlformats.org/officeDocument/2006/relationships" r:id="rId1"/>
            </a:rPr>
            <a:t>Output_images</a:t>
          </a:r>
          <a:endParaRPr lang="en-US" sz="2000" dirty="0">
            <a:solidFill>
              <a:schemeClr val="tx1"/>
            </a:solidFill>
          </a:endParaRPr>
        </a:p>
      </dgm:t>
    </dgm:pt>
    <dgm:pt modelId="{7459CAD5-0601-47EF-B0F1-8DC222EB8C16}" type="parTrans" cxnId="{CCB49F7C-5937-4543-AE83-764828CAC63D}">
      <dgm:prSet/>
      <dgm:spPr/>
      <dgm:t>
        <a:bodyPr/>
        <a:lstStyle/>
        <a:p>
          <a:endParaRPr lang="en-US"/>
        </a:p>
      </dgm:t>
    </dgm:pt>
    <dgm:pt modelId="{DE6C2A2F-B8A7-4C25-9E1C-F860BF311D78}" type="sibTrans" cxnId="{CCB49F7C-5937-4543-AE83-764828CAC63D}">
      <dgm:prSet/>
      <dgm:spPr/>
      <dgm:t>
        <a:bodyPr/>
        <a:lstStyle/>
        <a:p>
          <a:endParaRPr lang="en-US"/>
        </a:p>
      </dgm:t>
    </dgm:pt>
    <dgm:pt modelId="{AE076634-D0C4-479C-B083-903BDFA5AE85}" type="pres">
      <dgm:prSet presAssocID="{69E3E803-BCB8-4026-A29B-AC37600BDFC1}" presName="vert0" presStyleCnt="0">
        <dgm:presLayoutVars>
          <dgm:dir/>
          <dgm:animOne val="branch"/>
          <dgm:animLvl val="lvl"/>
        </dgm:presLayoutVars>
      </dgm:prSet>
      <dgm:spPr/>
    </dgm:pt>
    <dgm:pt modelId="{0B639FD2-7E7C-49EB-A161-A4D4689011F6}" type="pres">
      <dgm:prSet presAssocID="{BB6AB8E2-4AFC-4FE5-A789-A83CDC832B3A}" presName="thickLine" presStyleLbl="alignNode1" presStyleIdx="0" presStyleCnt="6"/>
      <dgm:spPr/>
    </dgm:pt>
    <dgm:pt modelId="{21EFE964-DBB3-452C-BD41-B30B8189863C}" type="pres">
      <dgm:prSet presAssocID="{BB6AB8E2-4AFC-4FE5-A789-A83CDC832B3A}" presName="horz1" presStyleCnt="0"/>
      <dgm:spPr/>
    </dgm:pt>
    <dgm:pt modelId="{5675E643-D3E3-4E8C-8721-AC4883AB1B58}" type="pres">
      <dgm:prSet presAssocID="{BB6AB8E2-4AFC-4FE5-A789-A83CDC832B3A}" presName="tx1" presStyleLbl="revTx" presStyleIdx="0" presStyleCnt="6"/>
      <dgm:spPr/>
    </dgm:pt>
    <dgm:pt modelId="{834F2BC6-634E-42EC-9843-1FF06794DCCC}" type="pres">
      <dgm:prSet presAssocID="{BB6AB8E2-4AFC-4FE5-A789-A83CDC832B3A}" presName="vert1" presStyleCnt="0"/>
      <dgm:spPr/>
    </dgm:pt>
    <dgm:pt modelId="{C0B92A8C-10CC-430F-859A-937A3C09D90E}" type="pres">
      <dgm:prSet presAssocID="{E7F49A5B-BCF1-4959-95CA-1872D97826EB}" presName="thickLine" presStyleLbl="alignNode1" presStyleIdx="1" presStyleCnt="6"/>
      <dgm:spPr/>
    </dgm:pt>
    <dgm:pt modelId="{F9394280-9A6E-4135-828C-CD1AC54C8692}" type="pres">
      <dgm:prSet presAssocID="{E7F49A5B-BCF1-4959-95CA-1872D97826EB}" presName="horz1" presStyleCnt="0"/>
      <dgm:spPr/>
    </dgm:pt>
    <dgm:pt modelId="{315FD07D-CAD4-42CE-BCD5-D5D640C5B287}" type="pres">
      <dgm:prSet presAssocID="{E7F49A5B-BCF1-4959-95CA-1872D97826EB}" presName="tx1" presStyleLbl="revTx" presStyleIdx="1" presStyleCnt="6"/>
      <dgm:spPr/>
    </dgm:pt>
    <dgm:pt modelId="{596009BC-C06F-41B0-B76D-A327EFBB14A8}" type="pres">
      <dgm:prSet presAssocID="{E7F49A5B-BCF1-4959-95CA-1872D97826EB}" presName="vert1" presStyleCnt="0"/>
      <dgm:spPr/>
    </dgm:pt>
    <dgm:pt modelId="{5BD9B091-2352-4E66-A9A8-341BD53F0CC2}" type="pres">
      <dgm:prSet presAssocID="{96081A2E-A7BC-4E78-9E02-22F9304B1E66}" presName="thickLine" presStyleLbl="alignNode1" presStyleIdx="2" presStyleCnt="6"/>
      <dgm:spPr/>
    </dgm:pt>
    <dgm:pt modelId="{9487C103-5376-4372-AE90-DDE376085911}" type="pres">
      <dgm:prSet presAssocID="{96081A2E-A7BC-4E78-9E02-22F9304B1E66}" presName="horz1" presStyleCnt="0"/>
      <dgm:spPr/>
    </dgm:pt>
    <dgm:pt modelId="{A27905AE-14EA-4510-9BEF-93645D9C4721}" type="pres">
      <dgm:prSet presAssocID="{96081A2E-A7BC-4E78-9E02-22F9304B1E66}" presName="tx1" presStyleLbl="revTx" presStyleIdx="2" presStyleCnt="6"/>
      <dgm:spPr/>
    </dgm:pt>
    <dgm:pt modelId="{D37D0B9A-590C-47FD-9D70-0304F700B3E8}" type="pres">
      <dgm:prSet presAssocID="{96081A2E-A7BC-4E78-9E02-22F9304B1E66}" presName="vert1" presStyleCnt="0"/>
      <dgm:spPr/>
    </dgm:pt>
    <dgm:pt modelId="{7DEDE267-7ADA-4D0F-ABF2-341DC113CA50}" type="pres">
      <dgm:prSet presAssocID="{4FB5C2A5-08AA-4350-8E03-D0247D737B8D}" presName="thickLine" presStyleLbl="alignNode1" presStyleIdx="3" presStyleCnt="6"/>
      <dgm:spPr/>
    </dgm:pt>
    <dgm:pt modelId="{CE06C5D5-F7E4-43EA-8C18-C68468EEAA20}" type="pres">
      <dgm:prSet presAssocID="{4FB5C2A5-08AA-4350-8E03-D0247D737B8D}" presName="horz1" presStyleCnt="0"/>
      <dgm:spPr/>
    </dgm:pt>
    <dgm:pt modelId="{AB2D0EAE-FD4F-4D9C-8AB4-9A8FFFE65224}" type="pres">
      <dgm:prSet presAssocID="{4FB5C2A5-08AA-4350-8E03-D0247D737B8D}" presName="tx1" presStyleLbl="revTx" presStyleIdx="3" presStyleCnt="6"/>
      <dgm:spPr/>
    </dgm:pt>
    <dgm:pt modelId="{F891624F-AF96-40D7-BE88-6A5FC0D2F7EA}" type="pres">
      <dgm:prSet presAssocID="{4FB5C2A5-08AA-4350-8E03-D0247D737B8D}" presName="vert1" presStyleCnt="0"/>
      <dgm:spPr/>
    </dgm:pt>
    <dgm:pt modelId="{21DE8367-00B3-451F-93C0-04BC104BA0D6}" type="pres">
      <dgm:prSet presAssocID="{09D65AA5-D9E5-40CD-8D39-58E0ACC10D29}" presName="thickLine" presStyleLbl="alignNode1" presStyleIdx="4" presStyleCnt="6"/>
      <dgm:spPr/>
    </dgm:pt>
    <dgm:pt modelId="{D5D09E67-94AC-42C7-9140-3483D65F4157}" type="pres">
      <dgm:prSet presAssocID="{09D65AA5-D9E5-40CD-8D39-58E0ACC10D29}" presName="horz1" presStyleCnt="0"/>
      <dgm:spPr/>
    </dgm:pt>
    <dgm:pt modelId="{965301A4-8BB4-44A2-BDB3-454885E36714}" type="pres">
      <dgm:prSet presAssocID="{09D65AA5-D9E5-40CD-8D39-58E0ACC10D29}" presName="tx1" presStyleLbl="revTx" presStyleIdx="4" presStyleCnt="6"/>
      <dgm:spPr/>
    </dgm:pt>
    <dgm:pt modelId="{8C74BDD4-1C94-4619-8EB2-CA3AF14099B6}" type="pres">
      <dgm:prSet presAssocID="{09D65AA5-D9E5-40CD-8D39-58E0ACC10D29}" presName="vert1" presStyleCnt="0"/>
      <dgm:spPr/>
    </dgm:pt>
    <dgm:pt modelId="{89045616-869E-4448-BD4C-7DAC4F2500D1}" type="pres">
      <dgm:prSet presAssocID="{9CD6598D-6A7D-49E5-912E-A56974319C34}" presName="thickLine" presStyleLbl="alignNode1" presStyleIdx="5" presStyleCnt="6"/>
      <dgm:spPr/>
    </dgm:pt>
    <dgm:pt modelId="{EF0B7E33-EB44-4C5D-8DA3-B3A69AE5F806}" type="pres">
      <dgm:prSet presAssocID="{9CD6598D-6A7D-49E5-912E-A56974319C34}" presName="horz1" presStyleCnt="0"/>
      <dgm:spPr/>
    </dgm:pt>
    <dgm:pt modelId="{CFDF13CF-5DF7-4299-BD33-46349C0E8F0C}" type="pres">
      <dgm:prSet presAssocID="{9CD6598D-6A7D-49E5-912E-A56974319C34}" presName="tx1" presStyleLbl="revTx" presStyleIdx="5" presStyleCnt="6" custScaleX="98242" custScaleY="124468"/>
      <dgm:spPr/>
    </dgm:pt>
    <dgm:pt modelId="{58B38CA8-481F-43CA-A168-A2E16F77D288}" type="pres">
      <dgm:prSet presAssocID="{9CD6598D-6A7D-49E5-912E-A56974319C34}" presName="vert1" presStyleCnt="0"/>
      <dgm:spPr/>
    </dgm:pt>
  </dgm:ptLst>
  <dgm:cxnLst>
    <dgm:cxn modelId="{B7512621-BE9E-4899-A4B7-E0A2ADB5C019}" type="presOf" srcId="{69E3E803-BCB8-4026-A29B-AC37600BDFC1}" destId="{AE076634-D0C4-479C-B083-903BDFA5AE85}" srcOrd="0" destOrd="0" presId="urn:microsoft.com/office/officeart/2008/layout/LinedList"/>
    <dgm:cxn modelId="{50946828-2F1B-4F07-93E1-AB8EE3C73AF8}" type="presOf" srcId="{9CD6598D-6A7D-49E5-912E-A56974319C34}" destId="{CFDF13CF-5DF7-4299-BD33-46349C0E8F0C}" srcOrd="0" destOrd="0" presId="urn:microsoft.com/office/officeart/2008/layout/LinedList"/>
    <dgm:cxn modelId="{08DFFA30-E5A8-44D0-99B8-E8BA1C2C349D}" srcId="{69E3E803-BCB8-4026-A29B-AC37600BDFC1}" destId="{E7F49A5B-BCF1-4959-95CA-1872D97826EB}" srcOrd="1" destOrd="0" parTransId="{05B06E96-E975-4F70-84E9-4811AD426B54}" sibTransId="{5C556338-E528-4783-ADAF-FBE43FADDFDD}"/>
    <dgm:cxn modelId="{43E89E61-22ED-498C-A768-92FEFB7D5BE2}" type="presOf" srcId="{4FB5C2A5-08AA-4350-8E03-D0247D737B8D}" destId="{AB2D0EAE-FD4F-4D9C-8AB4-9A8FFFE65224}" srcOrd="0" destOrd="0" presId="urn:microsoft.com/office/officeart/2008/layout/LinedList"/>
    <dgm:cxn modelId="{07BCB065-D493-41A6-9D7D-13D66B2BC0EA}" type="presOf" srcId="{E7F49A5B-BCF1-4959-95CA-1872D97826EB}" destId="{315FD07D-CAD4-42CE-BCD5-D5D640C5B287}" srcOrd="0" destOrd="0" presId="urn:microsoft.com/office/officeart/2008/layout/LinedList"/>
    <dgm:cxn modelId="{B6987B6B-A794-49CD-8971-514BC0246436}" srcId="{69E3E803-BCB8-4026-A29B-AC37600BDFC1}" destId="{BB6AB8E2-4AFC-4FE5-A789-A83CDC832B3A}" srcOrd="0" destOrd="0" parTransId="{434104DD-4226-43C8-88A4-29E7D58D3428}" sibTransId="{239A3665-F292-4C84-81D0-21E16149D2DA}"/>
    <dgm:cxn modelId="{83746956-80A2-4E7C-B824-E82DF0FBF01D}" srcId="{69E3E803-BCB8-4026-A29B-AC37600BDFC1}" destId="{96081A2E-A7BC-4E78-9E02-22F9304B1E66}" srcOrd="2" destOrd="0" parTransId="{369A2B6A-3E7B-4600-AE62-B8BF4683D066}" sibTransId="{FEDE1549-203B-457B-8B0D-FD9AC27B8399}"/>
    <dgm:cxn modelId="{CCB49F7C-5937-4543-AE83-764828CAC63D}" srcId="{69E3E803-BCB8-4026-A29B-AC37600BDFC1}" destId="{9CD6598D-6A7D-49E5-912E-A56974319C34}" srcOrd="5" destOrd="0" parTransId="{7459CAD5-0601-47EF-B0F1-8DC222EB8C16}" sibTransId="{DE6C2A2F-B8A7-4C25-9E1C-F860BF311D78}"/>
    <dgm:cxn modelId="{EE4F977E-945D-4C86-BB97-E7817DD094E9}" srcId="{69E3E803-BCB8-4026-A29B-AC37600BDFC1}" destId="{4FB5C2A5-08AA-4350-8E03-D0247D737B8D}" srcOrd="3" destOrd="0" parTransId="{4400C80A-E45E-402A-BBDA-7179AAD18CE0}" sibTransId="{0DB6230B-B7B8-4AD0-8158-85F460897EE2}"/>
    <dgm:cxn modelId="{6A5055A9-590E-4436-8052-DA283E3372B3}" type="presOf" srcId="{96081A2E-A7BC-4E78-9E02-22F9304B1E66}" destId="{A27905AE-14EA-4510-9BEF-93645D9C4721}" srcOrd="0" destOrd="0" presId="urn:microsoft.com/office/officeart/2008/layout/LinedList"/>
    <dgm:cxn modelId="{863967E2-D99E-46DD-8478-7E1BE418C4AD}" type="presOf" srcId="{BB6AB8E2-4AFC-4FE5-A789-A83CDC832B3A}" destId="{5675E643-D3E3-4E8C-8721-AC4883AB1B58}" srcOrd="0" destOrd="0" presId="urn:microsoft.com/office/officeart/2008/layout/LinedList"/>
    <dgm:cxn modelId="{5029C9E3-5AE5-49FB-931F-2B40E4A92A06}" srcId="{69E3E803-BCB8-4026-A29B-AC37600BDFC1}" destId="{09D65AA5-D9E5-40CD-8D39-58E0ACC10D29}" srcOrd="4" destOrd="0" parTransId="{094E7D4F-A2F9-42ED-A1CA-AB84667D9133}" sibTransId="{2C3061CA-9D7D-43CD-8DD2-3C3851C369B5}"/>
    <dgm:cxn modelId="{6BEF45EF-41B0-44FD-9415-A6660EA6B22D}" type="presOf" srcId="{09D65AA5-D9E5-40CD-8D39-58E0ACC10D29}" destId="{965301A4-8BB4-44A2-BDB3-454885E36714}" srcOrd="0" destOrd="0" presId="urn:microsoft.com/office/officeart/2008/layout/LinedList"/>
    <dgm:cxn modelId="{F332B9E2-DA12-432D-BCF4-7D13C373424F}" type="presParOf" srcId="{AE076634-D0C4-479C-B083-903BDFA5AE85}" destId="{0B639FD2-7E7C-49EB-A161-A4D4689011F6}" srcOrd="0" destOrd="0" presId="urn:microsoft.com/office/officeart/2008/layout/LinedList"/>
    <dgm:cxn modelId="{9EAEFB3D-9541-452A-9596-3997EDBF97EA}" type="presParOf" srcId="{AE076634-D0C4-479C-B083-903BDFA5AE85}" destId="{21EFE964-DBB3-452C-BD41-B30B8189863C}" srcOrd="1" destOrd="0" presId="urn:microsoft.com/office/officeart/2008/layout/LinedList"/>
    <dgm:cxn modelId="{027CE8D7-9196-415A-A4D2-2A9CB12B0DB4}" type="presParOf" srcId="{21EFE964-DBB3-452C-BD41-B30B8189863C}" destId="{5675E643-D3E3-4E8C-8721-AC4883AB1B58}" srcOrd="0" destOrd="0" presId="urn:microsoft.com/office/officeart/2008/layout/LinedList"/>
    <dgm:cxn modelId="{807A58CF-6469-4FFF-BB5F-70075B1C9A57}" type="presParOf" srcId="{21EFE964-DBB3-452C-BD41-B30B8189863C}" destId="{834F2BC6-634E-42EC-9843-1FF06794DCCC}" srcOrd="1" destOrd="0" presId="urn:microsoft.com/office/officeart/2008/layout/LinedList"/>
    <dgm:cxn modelId="{6B1AFACD-AA72-4107-AFE5-A5A56AD6E492}" type="presParOf" srcId="{AE076634-D0C4-479C-B083-903BDFA5AE85}" destId="{C0B92A8C-10CC-430F-859A-937A3C09D90E}" srcOrd="2" destOrd="0" presId="urn:microsoft.com/office/officeart/2008/layout/LinedList"/>
    <dgm:cxn modelId="{6FEA3AE7-7519-437B-874B-3686BD49A5DE}" type="presParOf" srcId="{AE076634-D0C4-479C-B083-903BDFA5AE85}" destId="{F9394280-9A6E-4135-828C-CD1AC54C8692}" srcOrd="3" destOrd="0" presId="urn:microsoft.com/office/officeart/2008/layout/LinedList"/>
    <dgm:cxn modelId="{809A75E0-1402-4CF6-9EBB-A2736566F7EB}" type="presParOf" srcId="{F9394280-9A6E-4135-828C-CD1AC54C8692}" destId="{315FD07D-CAD4-42CE-BCD5-D5D640C5B287}" srcOrd="0" destOrd="0" presId="urn:microsoft.com/office/officeart/2008/layout/LinedList"/>
    <dgm:cxn modelId="{6982BB16-14B1-4DD4-B5AC-86EEB50BB6C3}" type="presParOf" srcId="{F9394280-9A6E-4135-828C-CD1AC54C8692}" destId="{596009BC-C06F-41B0-B76D-A327EFBB14A8}" srcOrd="1" destOrd="0" presId="urn:microsoft.com/office/officeart/2008/layout/LinedList"/>
    <dgm:cxn modelId="{16D45759-1E71-419F-8839-47A78B068C37}" type="presParOf" srcId="{AE076634-D0C4-479C-B083-903BDFA5AE85}" destId="{5BD9B091-2352-4E66-A9A8-341BD53F0CC2}" srcOrd="4" destOrd="0" presId="urn:microsoft.com/office/officeart/2008/layout/LinedList"/>
    <dgm:cxn modelId="{C9C0BC61-5401-4DE9-8B7A-AAB8079172A0}" type="presParOf" srcId="{AE076634-D0C4-479C-B083-903BDFA5AE85}" destId="{9487C103-5376-4372-AE90-DDE376085911}" srcOrd="5" destOrd="0" presId="urn:microsoft.com/office/officeart/2008/layout/LinedList"/>
    <dgm:cxn modelId="{3024FB63-63C9-496C-B3A1-53ADF4B12CFE}" type="presParOf" srcId="{9487C103-5376-4372-AE90-DDE376085911}" destId="{A27905AE-14EA-4510-9BEF-93645D9C4721}" srcOrd="0" destOrd="0" presId="urn:microsoft.com/office/officeart/2008/layout/LinedList"/>
    <dgm:cxn modelId="{B39E5808-DCC8-4A64-BB5B-13DB51A24024}" type="presParOf" srcId="{9487C103-5376-4372-AE90-DDE376085911}" destId="{D37D0B9A-590C-47FD-9D70-0304F700B3E8}" srcOrd="1" destOrd="0" presId="urn:microsoft.com/office/officeart/2008/layout/LinedList"/>
    <dgm:cxn modelId="{5D9CED2C-3481-4AD7-A5D9-CE0D99F198C9}" type="presParOf" srcId="{AE076634-D0C4-479C-B083-903BDFA5AE85}" destId="{7DEDE267-7ADA-4D0F-ABF2-341DC113CA50}" srcOrd="6" destOrd="0" presId="urn:microsoft.com/office/officeart/2008/layout/LinedList"/>
    <dgm:cxn modelId="{A426FB9F-45DD-4BD3-A764-BC5788DE8B22}" type="presParOf" srcId="{AE076634-D0C4-479C-B083-903BDFA5AE85}" destId="{CE06C5D5-F7E4-43EA-8C18-C68468EEAA20}" srcOrd="7" destOrd="0" presId="urn:microsoft.com/office/officeart/2008/layout/LinedList"/>
    <dgm:cxn modelId="{C24269F2-4F51-4BA7-9943-4B6C153BDF2D}" type="presParOf" srcId="{CE06C5D5-F7E4-43EA-8C18-C68468EEAA20}" destId="{AB2D0EAE-FD4F-4D9C-8AB4-9A8FFFE65224}" srcOrd="0" destOrd="0" presId="urn:microsoft.com/office/officeart/2008/layout/LinedList"/>
    <dgm:cxn modelId="{36C260AF-0084-4143-98AE-7946ACFB652A}" type="presParOf" srcId="{CE06C5D5-F7E4-43EA-8C18-C68468EEAA20}" destId="{F891624F-AF96-40D7-BE88-6A5FC0D2F7EA}" srcOrd="1" destOrd="0" presId="urn:microsoft.com/office/officeart/2008/layout/LinedList"/>
    <dgm:cxn modelId="{E820B837-31B3-4B29-92B1-90EDB0348997}" type="presParOf" srcId="{AE076634-D0C4-479C-B083-903BDFA5AE85}" destId="{21DE8367-00B3-451F-93C0-04BC104BA0D6}" srcOrd="8" destOrd="0" presId="urn:microsoft.com/office/officeart/2008/layout/LinedList"/>
    <dgm:cxn modelId="{1ABBEF7C-82BA-4375-9E05-9BBAD1EE6AA7}" type="presParOf" srcId="{AE076634-D0C4-479C-B083-903BDFA5AE85}" destId="{D5D09E67-94AC-42C7-9140-3483D65F4157}" srcOrd="9" destOrd="0" presId="urn:microsoft.com/office/officeart/2008/layout/LinedList"/>
    <dgm:cxn modelId="{1D583D7A-2BEE-4D58-90E0-497112F3A530}" type="presParOf" srcId="{D5D09E67-94AC-42C7-9140-3483D65F4157}" destId="{965301A4-8BB4-44A2-BDB3-454885E36714}" srcOrd="0" destOrd="0" presId="urn:microsoft.com/office/officeart/2008/layout/LinedList"/>
    <dgm:cxn modelId="{A406B0E0-2397-47AD-9913-85BF8238E1DE}" type="presParOf" srcId="{D5D09E67-94AC-42C7-9140-3483D65F4157}" destId="{8C74BDD4-1C94-4619-8EB2-CA3AF14099B6}" srcOrd="1" destOrd="0" presId="urn:microsoft.com/office/officeart/2008/layout/LinedList"/>
    <dgm:cxn modelId="{B8730550-269D-4F91-8050-708D14540639}" type="presParOf" srcId="{AE076634-D0C4-479C-B083-903BDFA5AE85}" destId="{89045616-869E-4448-BD4C-7DAC4F2500D1}" srcOrd="10" destOrd="0" presId="urn:microsoft.com/office/officeart/2008/layout/LinedList"/>
    <dgm:cxn modelId="{874F47AF-0951-4A60-BC4D-A6F37C7612C9}" type="presParOf" srcId="{AE076634-D0C4-479C-B083-903BDFA5AE85}" destId="{EF0B7E33-EB44-4C5D-8DA3-B3A69AE5F806}" srcOrd="11" destOrd="0" presId="urn:microsoft.com/office/officeart/2008/layout/LinedList"/>
    <dgm:cxn modelId="{4DC87D4A-C743-4CF2-AECC-9C06879E6FBE}" type="presParOf" srcId="{EF0B7E33-EB44-4C5D-8DA3-B3A69AE5F806}" destId="{CFDF13CF-5DF7-4299-BD33-46349C0E8F0C}" srcOrd="0" destOrd="0" presId="urn:microsoft.com/office/officeart/2008/layout/LinedList"/>
    <dgm:cxn modelId="{416EF229-5B9C-43AC-BE33-6BCE5D18976B}" type="presParOf" srcId="{EF0B7E33-EB44-4C5D-8DA3-B3A69AE5F806}" destId="{58B38CA8-481F-43CA-A168-A2E16F77D2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E3E803-BCB8-4026-A29B-AC37600BDFC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6AB8E2-4AFC-4FE5-A789-A83CDC832B3A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that </a:t>
          </a:r>
          <a:r>
            <a: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"/>
            </a:rPr>
            <a:t>detector offset varies spatially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, not just with integration time.</a:t>
          </a:r>
        </a:p>
      </dgm:t>
    </dgm:pt>
    <dgm:pt modelId="{434104DD-4226-43C8-88A4-29E7D58D3428}" type="parTrans" cxnId="{B6987B6B-A794-49CD-8971-514BC0246436}">
      <dgm:prSet/>
      <dgm:spPr/>
      <dgm:t>
        <a:bodyPr/>
        <a:lstStyle/>
        <a:p>
          <a:endParaRPr lang="en-US"/>
        </a:p>
      </dgm:t>
    </dgm:pt>
    <dgm:pt modelId="{239A3665-F292-4C84-81D0-21E16149D2DA}" type="sibTrans" cxnId="{B6987B6B-A794-49CD-8971-514BC0246436}">
      <dgm:prSet/>
      <dgm:spPr/>
      <dgm:t>
        <a:bodyPr/>
        <a:lstStyle/>
        <a:p>
          <a:endParaRPr lang="en-US"/>
        </a:p>
      </dgm:t>
    </dgm:pt>
    <dgm:pt modelId="{E7F49A5B-BCF1-4959-95CA-1872D97826EB}">
      <dgm:prSet custT="1"/>
      <dgm:spPr/>
      <dgm:t>
        <a:bodyPr/>
        <a:lstStyle/>
        <a:p>
          <a:r>
            <a: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the need for </a:t>
          </a:r>
          <a:r>
            <a:rPr kumimoji="0" lang="en-US" altLang="en-US" sz="1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row-region based analysis</a:t>
          </a:r>
          <a:r>
            <a: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instead of a single global average.</a:t>
          </a:r>
          <a:endParaRPr lang="en-US" sz="1900" dirty="0">
            <a:latin typeface="+mj-lt"/>
            <a:cs typeface="Arial" panose="020B0604020202020204" pitchFamily="34" charset="0"/>
          </a:endParaRPr>
        </a:p>
      </dgm:t>
    </dgm:pt>
    <dgm:pt modelId="{05B06E96-E975-4F70-84E9-4811AD426B54}" type="parTrans" cxnId="{08DFFA30-E5A8-44D0-99B8-E8BA1C2C349D}">
      <dgm:prSet/>
      <dgm:spPr/>
      <dgm:t>
        <a:bodyPr/>
        <a:lstStyle/>
        <a:p>
          <a:endParaRPr lang="en-US"/>
        </a:p>
      </dgm:t>
    </dgm:pt>
    <dgm:pt modelId="{5C556338-E528-4783-ADAF-FBE43FADDFDD}" type="sibTrans" cxnId="{08DFFA30-E5A8-44D0-99B8-E8BA1C2C349D}">
      <dgm:prSet/>
      <dgm:spPr/>
      <dgm:t>
        <a:bodyPr/>
        <a:lstStyle/>
        <a:p>
          <a:endParaRPr lang="en-US"/>
        </a:p>
      </dgm:t>
    </dgm:pt>
    <dgm:pt modelId="{96081A2E-A7BC-4E78-9E02-22F9304B1E66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Applied </a:t>
          </a:r>
          <a:r>
            <a: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multiple polynomial models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to capture region-specific offset behavior.</a:t>
          </a:r>
        </a:p>
        <a:p>
          <a:pPr>
            <a:buClrTx/>
            <a:buSzTx/>
            <a:buFontTx/>
            <a:buChar char="•"/>
          </a:pPr>
          <a:endParaRPr lang="en-US" sz="2000" dirty="0"/>
        </a:p>
      </dgm:t>
    </dgm:pt>
    <dgm:pt modelId="{369A2B6A-3E7B-4600-AE62-B8BF4683D066}" type="parTrans" cxnId="{83746956-80A2-4E7C-B824-E82DF0FBF01D}">
      <dgm:prSet/>
      <dgm:spPr/>
      <dgm:t>
        <a:bodyPr/>
        <a:lstStyle/>
        <a:p>
          <a:endParaRPr lang="en-US"/>
        </a:p>
      </dgm:t>
    </dgm:pt>
    <dgm:pt modelId="{FEDE1549-203B-457B-8B0D-FD9AC27B8399}" type="sibTrans" cxnId="{83746956-80A2-4E7C-B824-E82DF0FBF01D}">
      <dgm:prSet/>
      <dgm:spPr/>
      <dgm:t>
        <a:bodyPr/>
        <a:lstStyle/>
        <a:p>
          <a:endParaRPr lang="en-US"/>
        </a:p>
      </dgm:t>
    </dgm:pt>
    <dgm:pt modelId="{4FB5C2A5-08AA-4350-8E03-D0247D737B8D}">
      <dgm:prSet custT="1"/>
      <dgm:spPr/>
      <dgm:t>
        <a:bodyPr/>
        <a:lstStyle/>
        <a:p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Implemented </a:t>
          </a:r>
          <a:r>
            <a: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region-wise scaling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to normalize detector response accurately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kumimoji="0" lang="en-US" altLang="en-US" sz="20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j-lt"/>
          </a:endParaRPr>
        </a:p>
      </dgm:t>
    </dgm:pt>
    <dgm:pt modelId="{4400C80A-E45E-402A-BBDA-7179AAD18CE0}" type="parTrans" cxnId="{EE4F977E-945D-4C86-BB97-E7817DD094E9}">
      <dgm:prSet/>
      <dgm:spPr/>
      <dgm:t>
        <a:bodyPr/>
        <a:lstStyle/>
        <a:p>
          <a:endParaRPr lang="en-US"/>
        </a:p>
      </dgm:t>
    </dgm:pt>
    <dgm:pt modelId="{0DB6230B-B7B8-4AD0-8158-85F460897EE2}" type="sibTrans" cxnId="{EE4F977E-945D-4C86-BB97-E7817DD094E9}">
      <dgm:prSet/>
      <dgm:spPr/>
      <dgm:t>
        <a:bodyPr/>
        <a:lstStyle/>
        <a:p>
          <a:endParaRPr lang="en-US"/>
        </a:p>
      </dgm:t>
    </dgm:pt>
    <dgm:pt modelId="{09D65AA5-D9E5-40CD-8D39-58E0ACC10D29}">
      <dgm:prSet custT="1"/>
      <dgm:spPr/>
      <dgm:t>
        <a:bodyPr/>
        <a:lstStyle/>
        <a:p>
          <a:pPr>
            <a:buClrTx/>
            <a:buSzTx/>
            <a:buFontTx/>
            <a:buChar char="•"/>
          </a:pP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Validated correction using </a:t>
          </a:r>
          <a:r>
            <a: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row-wise average plots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, ensuring spatial consistency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r>
            <a: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   </a:t>
          </a:r>
          <a:endParaRPr lang="en-US" sz="2000" dirty="0">
            <a:latin typeface="+mj-lt"/>
          </a:endParaRPr>
        </a:p>
      </dgm:t>
    </dgm:pt>
    <dgm:pt modelId="{094E7D4F-A2F9-42ED-A1CA-AB84667D9133}" type="parTrans" cxnId="{5029C9E3-5AE5-49FB-931F-2B40E4A92A06}">
      <dgm:prSet/>
      <dgm:spPr/>
      <dgm:t>
        <a:bodyPr/>
        <a:lstStyle/>
        <a:p>
          <a:endParaRPr lang="en-US"/>
        </a:p>
      </dgm:t>
    </dgm:pt>
    <dgm:pt modelId="{2C3061CA-9D7D-43CD-8DD2-3C3851C369B5}" type="sibTrans" cxnId="{5029C9E3-5AE5-49FB-931F-2B40E4A92A06}">
      <dgm:prSet/>
      <dgm:spPr/>
      <dgm:t>
        <a:bodyPr/>
        <a:lstStyle/>
        <a:p>
          <a:endParaRPr lang="en-US"/>
        </a:p>
      </dgm:t>
    </dgm:pt>
    <dgm:pt modelId="{9CD6598D-6A7D-49E5-912E-A56974319C34}">
      <dgm:prSet custT="1"/>
      <dgm:spPr/>
      <dgm:t>
        <a:bodyPr/>
        <a:lstStyle/>
        <a:p>
          <a:r>
            <a:rPr lang="en-US" sz="2400" b="1" i="0" baseline="0" dirty="0">
              <a:latin typeface="+mj-lt"/>
            </a:rPr>
            <a:t>CODE : </a:t>
          </a:r>
          <a:r>
            <a:rPr lang="en-US" sz="20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Sahithi/</a:t>
          </a:r>
          <a:r>
            <a:rPr lang="en-US" sz="20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Varex_mini_project_tasks</a:t>
          </a:r>
          <a:r>
            <a:rPr lang="en-US" sz="20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/Code &amp; </a:t>
          </a:r>
          <a:r>
            <a:rPr lang="en-US" sz="20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Output_images</a:t>
          </a:r>
          <a:endParaRPr lang="en-US" sz="2000" dirty="0">
            <a:solidFill>
              <a:schemeClr val="tx1"/>
            </a:solidFill>
          </a:endParaRPr>
        </a:p>
      </dgm:t>
    </dgm:pt>
    <dgm:pt modelId="{7459CAD5-0601-47EF-B0F1-8DC222EB8C16}" type="parTrans" cxnId="{CCB49F7C-5937-4543-AE83-764828CAC63D}">
      <dgm:prSet/>
      <dgm:spPr/>
      <dgm:t>
        <a:bodyPr/>
        <a:lstStyle/>
        <a:p>
          <a:endParaRPr lang="en-US"/>
        </a:p>
      </dgm:t>
    </dgm:pt>
    <dgm:pt modelId="{DE6C2A2F-B8A7-4C25-9E1C-F860BF311D78}" type="sibTrans" cxnId="{CCB49F7C-5937-4543-AE83-764828CAC63D}">
      <dgm:prSet/>
      <dgm:spPr/>
      <dgm:t>
        <a:bodyPr/>
        <a:lstStyle/>
        <a:p>
          <a:endParaRPr lang="en-US"/>
        </a:p>
      </dgm:t>
    </dgm:pt>
    <dgm:pt modelId="{AE076634-D0C4-479C-B083-903BDFA5AE85}" type="pres">
      <dgm:prSet presAssocID="{69E3E803-BCB8-4026-A29B-AC37600BDFC1}" presName="vert0" presStyleCnt="0">
        <dgm:presLayoutVars>
          <dgm:dir/>
          <dgm:animOne val="branch"/>
          <dgm:animLvl val="lvl"/>
        </dgm:presLayoutVars>
      </dgm:prSet>
      <dgm:spPr/>
    </dgm:pt>
    <dgm:pt modelId="{0B639FD2-7E7C-49EB-A161-A4D4689011F6}" type="pres">
      <dgm:prSet presAssocID="{BB6AB8E2-4AFC-4FE5-A789-A83CDC832B3A}" presName="thickLine" presStyleLbl="alignNode1" presStyleIdx="0" presStyleCnt="6"/>
      <dgm:spPr/>
    </dgm:pt>
    <dgm:pt modelId="{21EFE964-DBB3-452C-BD41-B30B8189863C}" type="pres">
      <dgm:prSet presAssocID="{BB6AB8E2-4AFC-4FE5-A789-A83CDC832B3A}" presName="horz1" presStyleCnt="0"/>
      <dgm:spPr/>
    </dgm:pt>
    <dgm:pt modelId="{5675E643-D3E3-4E8C-8721-AC4883AB1B58}" type="pres">
      <dgm:prSet presAssocID="{BB6AB8E2-4AFC-4FE5-A789-A83CDC832B3A}" presName="tx1" presStyleLbl="revTx" presStyleIdx="0" presStyleCnt="6"/>
      <dgm:spPr/>
    </dgm:pt>
    <dgm:pt modelId="{834F2BC6-634E-42EC-9843-1FF06794DCCC}" type="pres">
      <dgm:prSet presAssocID="{BB6AB8E2-4AFC-4FE5-A789-A83CDC832B3A}" presName="vert1" presStyleCnt="0"/>
      <dgm:spPr/>
    </dgm:pt>
    <dgm:pt modelId="{C0B92A8C-10CC-430F-859A-937A3C09D90E}" type="pres">
      <dgm:prSet presAssocID="{E7F49A5B-BCF1-4959-95CA-1872D97826EB}" presName="thickLine" presStyleLbl="alignNode1" presStyleIdx="1" presStyleCnt="6"/>
      <dgm:spPr/>
    </dgm:pt>
    <dgm:pt modelId="{F9394280-9A6E-4135-828C-CD1AC54C8692}" type="pres">
      <dgm:prSet presAssocID="{E7F49A5B-BCF1-4959-95CA-1872D97826EB}" presName="horz1" presStyleCnt="0"/>
      <dgm:spPr/>
    </dgm:pt>
    <dgm:pt modelId="{315FD07D-CAD4-42CE-BCD5-D5D640C5B287}" type="pres">
      <dgm:prSet presAssocID="{E7F49A5B-BCF1-4959-95CA-1872D97826EB}" presName="tx1" presStyleLbl="revTx" presStyleIdx="1" presStyleCnt="6"/>
      <dgm:spPr/>
    </dgm:pt>
    <dgm:pt modelId="{596009BC-C06F-41B0-B76D-A327EFBB14A8}" type="pres">
      <dgm:prSet presAssocID="{E7F49A5B-BCF1-4959-95CA-1872D97826EB}" presName="vert1" presStyleCnt="0"/>
      <dgm:spPr/>
    </dgm:pt>
    <dgm:pt modelId="{5BD9B091-2352-4E66-A9A8-341BD53F0CC2}" type="pres">
      <dgm:prSet presAssocID="{96081A2E-A7BC-4E78-9E02-22F9304B1E66}" presName="thickLine" presStyleLbl="alignNode1" presStyleIdx="2" presStyleCnt="6"/>
      <dgm:spPr/>
    </dgm:pt>
    <dgm:pt modelId="{9487C103-5376-4372-AE90-DDE376085911}" type="pres">
      <dgm:prSet presAssocID="{96081A2E-A7BC-4E78-9E02-22F9304B1E66}" presName="horz1" presStyleCnt="0"/>
      <dgm:spPr/>
    </dgm:pt>
    <dgm:pt modelId="{A27905AE-14EA-4510-9BEF-93645D9C4721}" type="pres">
      <dgm:prSet presAssocID="{96081A2E-A7BC-4E78-9E02-22F9304B1E66}" presName="tx1" presStyleLbl="revTx" presStyleIdx="2" presStyleCnt="6"/>
      <dgm:spPr/>
    </dgm:pt>
    <dgm:pt modelId="{D37D0B9A-590C-47FD-9D70-0304F700B3E8}" type="pres">
      <dgm:prSet presAssocID="{96081A2E-A7BC-4E78-9E02-22F9304B1E66}" presName="vert1" presStyleCnt="0"/>
      <dgm:spPr/>
    </dgm:pt>
    <dgm:pt modelId="{7DEDE267-7ADA-4D0F-ABF2-341DC113CA50}" type="pres">
      <dgm:prSet presAssocID="{4FB5C2A5-08AA-4350-8E03-D0247D737B8D}" presName="thickLine" presStyleLbl="alignNode1" presStyleIdx="3" presStyleCnt="6"/>
      <dgm:spPr/>
    </dgm:pt>
    <dgm:pt modelId="{CE06C5D5-F7E4-43EA-8C18-C68468EEAA20}" type="pres">
      <dgm:prSet presAssocID="{4FB5C2A5-08AA-4350-8E03-D0247D737B8D}" presName="horz1" presStyleCnt="0"/>
      <dgm:spPr/>
    </dgm:pt>
    <dgm:pt modelId="{AB2D0EAE-FD4F-4D9C-8AB4-9A8FFFE65224}" type="pres">
      <dgm:prSet presAssocID="{4FB5C2A5-08AA-4350-8E03-D0247D737B8D}" presName="tx1" presStyleLbl="revTx" presStyleIdx="3" presStyleCnt="6"/>
      <dgm:spPr/>
    </dgm:pt>
    <dgm:pt modelId="{F891624F-AF96-40D7-BE88-6A5FC0D2F7EA}" type="pres">
      <dgm:prSet presAssocID="{4FB5C2A5-08AA-4350-8E03-D0247D737B8D}" presName="vert1" presStyleCnt="0"/>
      <dgm:spPr/>
    </dgm:pt>
    <dgm:pt modelId="{21DE8367-00B3-451F-93C0-04BC104BA0D6}" type="pres">
      <dgm:prSet presAssocID="{09D65AA5-D9E5-40CD-8D39-58E0ACC10D29}" presName="thickLine" presStyleLbl="alignNode1" presStyleIdx="4" presStyleCnt="6"/>
      <dgm:spPr/>
    </dgm:pt>
    <dgm:pt modelId="{D5D09E67-94AC-42C7-9140-3483D65F4157}" type="pres">
      <dgm:prSet presAssocID="{09D65AA5-D9E5-40CD-8D39-58E0ACC10D29}" presName="horz1" presStyleCnt="0"/>
      <dgm:spPr/>
    </dgm:pt>
    <dgm:pt modelId="{965301A4-8BB4-44A2-BDB3-454885E36714}" type="pres">
      <dgm:prSet presAssocID="{09D65AA5-D9E5-40CD-8D39-58E0ACC10D29}" presName="tx1" presStyleLbl="revTx" presStyleIdx="4" presStyleCnt="6"/>
      <dgm:spPr/>
    </dgm:pt>
    <dgm:pt modelId="{8C74BDD4-1C94-4619-8EB2-CA3AF14099B6}" type="pres">
      <dgm:prSet presAssocID="{09D65AA5-D9E5-40CD-8D39-58E0ACC10D29}" presName="vert1" presStyleCnt="0"/>
      <dgm:spPr/>
    </dgm:pt>
    <dgm:pt modelId="{89045616-869E-4448-BD4C-7DAC4F2500D1}" type="pres">
      <dgm:prSet presAssocID="{9CD6598D-6A7D-49E5-912E-A56974319C34}" presName="thickLine" presStyleLbl="alignNode1" presStyleIdx="5" presStyleCnt="6"/>
      <dgm:spPr/>
    </dgm:pt>
    <dgm:pt modelId="{EF0B7E33-EB44-4C5D-8DA3-B3A69AE5F806}" type="pres">
      <dgm:prSet presAssocID="{9CD6598D-6A7D-49E5-912E-A56974319C34}" presName="horz1" presStyleCnt="0"/>
      <dgm:spPr/>
    </dgm:pt>
    <dgm:pt modelId="{CFDF13CF-5DF7-4299-BD33-46349C0E8F0C}" type="pres">
      <dgm:prSet presAssocID="{9CD6598D-6A7D-49E5-912E-A56974319C34}" presName="tx1" presStyleLbl="revTx" presStyleIdx="5" presStyleCnt="6" custScaleX="98242" custScaleY="124468"/>
      <dgm:spPr/>
    </dgm:pt>
    <dgm:pt modelId="{58B38CA8-481F-43CA-A168-A2E16F77D288}" type="pres">
      <dgm:prSet presAssocID="{9CD6598D-6A7D-49E5-912E-A56974319C34}" presName="vert1" presStyleCnt="0"/>
      <dgm:spPr/>
    </dgm:pt>
  </dgm:ptLst>
  <dgm:cxnLst>
    <dgm:cxn modelId="{B7512621-BE9E-4899-A4B7-E0A2ADB5C019}" type="presOf" srcId="{69E3E803-BCB8-4026-A29B-AC37600BDFC1}" destId="{AE076634-D0C4-479C-B083-903BDFA5AE85}" srcOrd="0" destOrd="0" presId="urn:microsoft.com/office/officeart/2008/layout/LinedList"/>
    <dgm:cxn modelId="{50946828-2F1B-4F07-93E1-AB8EE3C73AF8}" type="presOf" srcId="{9CD6598D-6A7D-49E5-912E-A56974319C34}" destId="{CFDF13CF-5DF7-4299-BD33-46349C0E8F0C}" srcOrd="0" destOrd="0" presId="urn:microsoft.com/office/officeart/2008/layout/LinedList"/>
    <dgm:cxn modelId="{08DFFA30-E5A8-44D0-99B8-E8BA1C2C349D}" srcId="{69E3E803-BCB8-4026-A29B-AC37600BDFC1}" destId="{E7F49A5B-BCF1-4959-95CA-1872D97826EB}" srcOrd="1" destOrd="0" parTransId="{05B06E96-E975-4F70-84E9-4811AD426B54}" sibTransId="{5C556338-E528-4783-ADAF-FBE43FADDFDD}"/>
    <dgm:cxn modelId="{43E89E61-22ED-498C-A768-92FEFB7D5BE2}" type="presOf" srcId="{4FB5C2A5-08AA-4350-8E03-D0247D737B8D}" destId="{AB2D0EAE-FD4F-4D9C-8AB4-9A8FFFE65224}" srcOrd="0" destOrd="0" presId="urn:microsoft.com/office/officeart/2008/layout/LinedList"/>
    <dgm:cxn modelId="{07BCB065-D493-41A6-9D7D-13D66B2BC0EA}" type="presOf" srcId="{E7F49A5B-BCF1-4959-95CA-1872D97826EB}" destId="{315FD07D-CAD4-42CE-BCD5-D5D640C5B287}" srcOrd="0" destOrd="0" presId="urn:microsoft.com/office/officeart/2008/layout/LinedList"/>
    <dgm:cxn modelId="{B6987B6B-A794-49CD-8971-514BC0246436}" srcId="{69E3E803-BCB8-4026-A29B-AC37600BDFC1}" destId="{BB6AB8E2-4AFC-4FE5-A789-A83CDC832B3A}" srcOrd="0" destOrd="0" parTransId="{434104DD-4226-43C8-88A4-29E7D58D3428}" sibTransId="{239A3665-F292-4C84-81D0-21E16149D2DA}"/>
    <dgm:cxn modelId="{83746956-80A2-4E7C-B824-E82DF0FBF01D}" srcId="{69E3E803-BCB8-4026-A29B-AC37600BDFC1}" destId="{96081A2E-A7BC-4E78-9E02-22F9304B1E66}" srcOrd="2" destOrd="0" parTransId="{369A2B6A-3E7B-4600-AE62-B8BF4683D066}" sibTransId="{FEDE1549-203B-457B-8B0D-FD9AC27B8399}"/>
    <dgm:cxn modelId="{CCB49F7C-5937-4543-AE83-764828CAC63D}" srcId="{69E3E803-BCB8-4026-A29B-AC37600BDFC1}" destId="{9CD6598D-6A7D-49E5-912E-A56974319C34}" srcOrd="5" destOrd="0" parTransId="{7459CAD5-0601-47EF-B0F1-8DC222EB8C16}" sibTransId="{DE6C2A2F-B8A7-4C25-9E1C-F860BF311D78}"/>
    <dgm:cxn modelId="{EE4F977E-945D-4C86-BB97-E7817DD094E9}" srcId="{69E3E803-BCB8-4026-A29B-AC37600BDFC1}" destId="{4FB5C2A5-08AA-4350-8E03-D0247D737B8D}" srcOrd="3" destOrd="0" parTransId="{4400C80A-E45E-402A-BBDA-7179AAD18CE0}" sibTransId="{0DB6230B-B7B8-4AD0-8158-85F460897EE2}"/>
    <dgm:cxn modelId="{6A5055A9-590E-4436-8052-DA283E3372B3}" type="presOf" srcId="{96081A2E-A7BC-4E78-9E02-22F9304B1E66}" destId="{A27905AE-14EA-4510-9BEF-93645D9C4721}" srcOrd="0" destOrd="0" presId="urn:microsoft.com/office/officeart/2008/layout/LinedList"/>
    <dgm:cxn modelId="{863967E2-D99E-46DD-8478-7E1BE418C4AD}" type="presOf" srcId="{BB6AB8E2-4AFC-4FE5-A789-A83CDC832B3A}" destId="{5675E643-D3E3-4E8C-8721-AC4883AB1B58}" srcOrd="0" destOrd="0" presId="urn:microsoft.com/office/officeart/2008/layout/LinedList"/>
    <dgm:cxn modelId="{5029C9E3-5AE5-49FB-931F-2B40E4A92A06}" srcId="{69E3E803-BCB8-4026-A29B-AC37600BDFC1}" destId="{09D65AA5-D9E5-40CD-8D39-58E0ACC10D29}" srcOrd="4" destOrd="0" parTransId="{094E7D4F-A2F9-42ED-A1CA-AB84667D9133}" sibTransId="{2C3061CA-9D7D-43CD-8DD2-3C3851C369B5}"/>
    <dgm:cxn modelId="{6BEF45EF-41B0-44FD-9415-A6660EA6B22D}" type="presOf" srcId="{09D65AA5-D9E5-40CD-8D39-58E0ACC10D29}" destId="{965301A4-8BB4-44A2-BDB3-454885E36714}" srcOrd="0" destOrd="0" presId="urn:microsoft.com/office/officeart/2008/layout/LinedList"/>
    <dgm:cxn modelId="{F332B9E2-DA12-432D-BCF4-7D13C373424F}" type="presParOf" srcId="{AE076634-D0C4-479C-B083-903BDFA5AE85}" destId="{0B639FD2-7E7C-49EB-A161-A4D4689011F6}" srcOrd="0" destOrd="0" presId="urn:microsoft.com/office/officeart/2008/layout/LinedList"/>
    <dgm:cxn modelId="{9EAEFB3D-9541-452A-9596-3997EDBF97EA}" type="presParOf" srcId="{AE076634-D0C4-479C-B083-903BDFA5AE85}" destId="{21EFE964-DBB3-452C-BD41-B30B8189863C}" srcOrd="1" destOrd="0" presId="urn:microsoft.com/office/officeart/2008/layout/LinedList"/>
    <dgm:cxn modelId="{027CE8D7-9196-415A-A4D2-2A9CB12B0DB4}" type="presParOf" srcId="{21EFE964-DBB3-452C-BD41-B30B8189863C}" destId="{5675E643-D3E3-4E8C-8721-AC4883AB1B58}" srcOrd="0" destOrd="0" presId="urn:microsoft.com/office/officeart/2008/layout/LinedList"/>
    <dgm:cxn modelId="{807A58CF-6469-4FFF-BB5F-70075B1C9A57}" type="presParOf" srcId="{21EFE964-DBB3-452C-BD41-B30B8189863C}" destId="{834F2BC6-634E-42EC-9843-1FF06794DCCC}" srcOrd="1" destOrd="0" presId="urn:microsoft.com/office/officeart/2008/layout/LinedList"/>
    <dgm:cxn modelId="{6B1AFACD-AA72-4107-AFE5-A5A56AD6E492}" type="presParOf" srcId="{AE076634-D0C4-479C-B083-903BDFA5AE85}" destId="{C0B92A8C-10CC-430F-859A-937A3C09D90E}" srcOrd="2" destOrd="0" presId="urn:microsoft.com/office/officeart/2008/layout/LinedList"/>
    <dgm:cxn modelId="{6FEA3AE7-7519-437B-874B-3686BD49A5DE}" type="presParOf" srcId="{AE076634-D0C4-479C-B083-903BDFA5AE85}" destId="{F9394280-9A6E-4135-828C-CD1AC54C8692}" srcOrd="3" destOrd="0" presId="urn:microsoft.com/office/officeart/2008/layout/LinedList"/>
    <dgm:cxn modelId="{809A75E0-1402-4CF6-9EBB-A2736566F7EB}" type="presParOf" srcId="{F9394280-9A6E-4135-828C-CD1AC54C8692}" destId="{315FD07D-CAD4-42CE-BCD5-D5D640C5B287}" srcOrd="0" destOrd="0" presId="urn:microsoft.com/office/officeart/2008/layout/LinedList"/>
    <dgm:cxn modelId="{6982BB16-14B1-4DD4-B5AC-86EEB50BB6C3}" type="presParOf" srcId="{F9394280-9A6E-4135-828C-CD1AC54C8692}" destId="{596009BC-C06F-41B0-B76D-A327EFBB14A8}" srcOrd="1" destOrd="0" presId="urn:microsoft.com/office/officeart/2008/layout/LinedList"/>
    <dgm:cxn modelId="{16D45759-1E71-419F-8839-47A78B068C37}" type="presParOf" srcId="{AE076634-D0C4-479C-B083-903BDFA5AE85}" destId="{5BD9B091-2352-4E66-A9A8-341BD53F0CC2}" srcOrd="4" destOrd="0" presId="urn:microsoft.com/office/officeart/2008/layout/LinedList"/>
    <dgm:cxn modelId="{C9C0BC61-5401-4DE9-8B7A-AAB8079172A0}" type="presParOf" srcId="{AE076634-D0C4-479C-B083-903BDFA5AE85}" destId="{9487C103-5376-4372-AE90-DDE376085911}" srcOrd="5" destOrd="0" presId="urn:microsoft.com/office/officeart/2008/layout/LinedList"/>
    <dgm:cxn modelId="{3024FB63-63C9-496C-B3A1-53ADF4B12CFE}" type="presParOf" srcId="{9487C103-5376-4372-AE90-DDE376085911}" destId="{A27905AE-14EA-4510-9BEF-93645D9C4721}" srcOrd="0" destOrd="0" presId="urn:microsoft.com/office/officeart/2008/layout/LinedList"/>
    <dgm:cxn modelId="{B39E5808-DCC8-4A64-BB5B-13DB51A24024}" type="presParOf" srcId="{9487C103-5376-4372-AE90-DDE376085911}" destId="{D37D0B9A-590C-47FD-9D70-0304F700B3E8}" srcOrd="1" destOrd="0" presId="urn:microsoft.com/office/officeart/2008/layout/LinedList"/>
    <dgm:cxn modelId="{5D9CED2C-3481-4AD7-A5D9-CE0D99F198C9}" type="presParOf" srcId="{AE076634-D0C4-479C-B083-903BDFA5AE85}" destId="{7DEDE267-7ADA-4D0F-ABF2-341DC113CA50}" srcOrd="6" destOrd="0" presId="urn:microsoft.com/office/officeart/2008/layout/LinedList"/>
    <dgm:cxn modelId="{A426FB9F-45DD-4BD3-A764-BC5788DE8B22}" type="presParOf" srcId="{AE076634-D0C4-479C-B083-903BDFA5AE85}" destId="{CE06C5D5-F7E4-43EA-8C18-C68468EEAA20}" srcOrd="7" destOrd="0" presId="urn:microsoft.com/office/officeart/2008/layout/LinedList"/>
    <dgm:cxn modelId="{C24269F2-4F51-4BA7-9943-4B6C153BDF2D}" type="presParOf" srcId="{CE06C5D5-F7E4-43EA-8C18-C68468EEAA20}" destId="{AB2D0EAE-FD4F-4D9C-8AB4-9A8FFFE65224}" srcOrd="0" destOrd="0" presId="urn:microsoft.com/office/officeart/2008/layout/LinedList"/>
    <dgm:cxn modelId="{36C260AF-0084-4143-98AE-7946ACFB652A}" type="presParOf" srcId="{CE06C5D5-F7E4-43EA-8C18-C68468EEAA20}" destId="{F891624F-AF96-40D7-BE88-6A5FC0D2F7EA}" srcOrd="1" destOrd="0" presId="urn:microsoft.com/office/officeart/2008/layout/LinedList"/>
    <dgm:cxn modelId="{E820B837-31B3-4B29-92B1-90EDB0348997}" type="presParOf" srcId="{AE076634-D0C4-479C-B083-903BDFA5AE85}" destId="{21DE8367-00B3-451F-93C0-04BC104BA0D6}" srcOrd="8" destOrd="0" presId="urn:microsoft.com/office/officeart/2008/layout/LinedList"/>
    <dgm:cxn modelId="{1ABBEF7C-82BA-4375-9E05-9BBAD1EE6AA7}" type="presParOf" srcId="{AE076634-D0C4-479C-B083-903BDFA5AE85}" destId="{D5D09E67-94AC-42C7-9140-3483D65F4157}" srcOrd="9" destOrd="0" presId="urn:microsoft.com/office/officeart/2008/layout/LinedList"/>
    <dgm:cxn modelId="{1D583D7A-2BEE-4D58-90E0-497112F3A530}" type="presParOf" srcId="{D5D09E67-94AC-42C7-9140-3483D65F4157}" destId="{965301A4-8BB4-44A2-BDB3-454885E36714}" srcOrd="0" destOrd="0" presId="urn:microsoft.com/office/officeart/2008/layout/LinedList"/>
    <dgm:cxn modelId="{A406B0E0-2397-47AD-9913-85BF8238E1DE}" type="presParOf" srcId="{D5D09E67-94AC-42C7-9140-3483D65F4157}" destId="{8C74BDD4-1C94-4619-8EB2-CA3AF14099B6}" srcOrd="1" destOrd="0" presId="urn:microsoft.com/office/officeart/2008/layout/LinedList"/>
    <dgm:cxn modelId="{B8730550-269D-4F91-8050-708D14540639}" type="presParOf" srcId="{AE076634-D0C4-479C-B083-903BDFA5AE85}" destId="{89045616-869E-4448-BD4C-7DAC4F2500D1}" srcOrd="10" destOrd="0" presId="urn:microsoft.com/office/officeart/2008/layout/LinedList"/>
    <dgm:cxn modelId="{874F47AF-0951-4A60-BC4D-A6F37C7612C9}" type="presParOf" srcId="{AE076634-D0C4-479C-B083-903BDFA5AE85}" destId="{EF0B7E33-EB44-4C5D-8DA3-B3A69AE5F806}" srcOrd="11" destOrd="0" presId="urn:microsoft.com/office/officeart/2008/layout/LinedList"/>
    <dgm:cxn modelId="{4DC87D4A-C743-4CF2-AECC-9C06879E6FBE}" type="presParOf" srcId="{EF0B7E33-EB44-4C5D-8DA3-B3A69AE5F806}" destId="{CFDF13CF-5DF7-4299-BD33-46349C0E8F0C}" srcOrd="0" destOrd="0" presId="urn:microsoft.com/office/officeart/2008/layout/LinedList"/>
    <dgm:cxn modelId="{416EF229-5B9C-43AC-BE33-6BCE5D18976B}" type="presParOf" srcId="{EF0B7E33-EB44-4C5D-8DA3-B3A69AE5F806}" destId="{58B38CA8-481F-43CA-A168-A2E16F77D2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3BD6B3-F3D2-4F08-82B4-716273889E10}" type="doc">
      <dgm:prSet loTypeId="urn:microsoft.com/office/officeart/2016/7/layout/RepeatingBendingProcessNew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D5B910-3354-4C8E-BC8D-846563EAFFE0}">
      <dgm:prSet custT="1"/>
      <dgm:spPr/>
      <dgm:t>
        <a:bodyPr/>
        <a:lstStyle/>
        <a:p>
          <a:r>
            <a:rPr lang="en-US" sz="2000" dirty="0"/>
            <a:t>Raw Detector Output — Binary pixel data directly produced by the detector and FPGA</a:t>
          </a:r>
        </a:p>
      </dgm:t>
    </dgm:pt>
    <dgm:pt modelId="{ABEA2A82-6D4F-45E7-817C-166CB3521B7C}" type="parTrans" cxnId="{E5C81AF6-23DE-443B-868F-B6A58259B015}">
      <dgm:prSet/>
      <dgm:spPr/>
      <dgm:t>
        <a:bodyPr/>
        <a:lstStyle/>
        <a:p>
          <a:endParaRPr lang="en-US"/>
        </a:p>
      </dgm:t>
    </dgm:pt>
    <dgm:pt modelId="{1CB70082-01C5-4FA6-9348-9FA8E5274E6E}" type="sibTrans" cxnId="{E5C81AF6-23DE-443B-868F-B6A58259B015}">
      <dgm:prSet/>
      <dgm:spPr/>
      <dgm:t>
        <a:bodyPr/>
        <a:lstStyle/>
        <a:p>
          <a:endParaRPr lang="en-US"/>
        </a:p>
      </dgm:t>
    </dgm:pt>
    <dgm:pt modelId="{7C7489B6-DCAF-4CA6-98B0-21D4EBF9E3EB}">
      <dgm:prSet custT="1"/>
      <dgm:spPr/>
      <dgm:t>
        <a:bodyPr/>
        <a:lstStyle/>
        <a:p>
          <a:r>
            <a:rPr lang="en-US" sz="2000" b="1" dirty="0"/>
            <a:t>Task 1 </a:t>
          </a:r>
          <a:r>
            <a:rPr lang="en-US" sz="2000" dirty="0"/>
            <a:t>— Understand Raw Image Structure (file format, header, ADU values, 2D image layout)</a:t>
          </a:r>
          <a:endParaRPr lang="en-US" sz="2200" dirty="0"/>
        </a:p>
      </dgm:t>
    </dgm:pt>
    <dgm:pt modelId="{7491DD2E-6039-4ED4-9992-AD746E7C1CBC}" type="parTrans" cxnId="{9942D2F3-DB7B-4E72-82F8-91A664043C2B}">
      <dgm:prSet/>
      <dgm:spPr/>
      <dgm:t>
        <a:bodyPr/>
        <a:lstStyle/>
        <a:p>
          <a:endParaRPr lang="en-US"/>
        </a:p>
      </dgm:t>
    </dgm:pt>
    <dgm:pt modelId="{4FAF96A3-029A-4E6D-AAEF-FE4FF650B436}" type="sibTrans" cxnId="{9942D2F3-DB7B-4E72-82F8-91A664043C2B}">
      <dgm:prSet/>
      <dgm:spPr/>
      <dgm:t>
        <a:bodyPr/>
        <a:lstStyle/>
        <a:p>
          <a:endParaRPr lang="en-US"/>
        </a:p>
      </dgm:t>
    </dgm:pt>
    <dgm:pt modelId="{C285B103-02A4-43D2-A1A2-D1DD488C69A2}">
      <dgm:prSet custT="1"/>
      <dgm:spPr/>
      <dgm:t>
        <a:bodyPr/>
        <a:lstStyle/>
        <a:p>
          <a:r>
            <a:rPr lang="en-US" sz="2000" b="1" dirty="0"/>
            <a:t>Task 2</a:t>
          </a:r>
          <a:r>
            <a:rPr lang="en-US" sz="2000" dirty="0"/>
            <a:t> — Validate Pixel Access (confirm correct row–column indexing and pixel values)</a:t>
          </a:r>
          <a:endParaRPr lang="en-US" sz="2200" dirty="0"/>
        </a:p>
      </dgm:t>
    </dgm:pt>
    <dgm:pt modelId="{DE3816E8-20D4-4FBC-ACBC-C776ED3B1093}" type="parTrans" cxnId="{82186EF2-6D57-4C2D-AD8C-20E0166ABCA0}">
      <dgm:prSet/>
      <dgm:spPr/>
      <dgm:t>
        <a:bodyPr/>
        <a:lstStyle/>
        <a:p>
          <a:endParaRPr lang="en-US"/>
        </a:p>
      </dgm:t>
    </dgm:pt>
    <dgm:pt modelId="{68F79CD5-D29C-4D83-9457-6D45F1EC109A}" type="sibTrans" cxnId="{82186EF2-6D57-4C2D-AD8C-20E0166ABCA0}">
      <dgm:prSet/>
      <dgm:spPr/>
      <dgm:t>
        <a:bodyPr/>
        <a:lstStyle/>
        <a:p>
          <a:endParaRPr lang="en-US"/>
        </a:p>
      </dgm:t>
    </dgm:pt>
    <dgm:pt modelId="{68FF28C2-E415-4D1C-BC4A-EE2EC257D493}">
      <dgm:prSet custT="1"/>
      <dgm:spPr/>
      <dgm:t>
        <a:bodyPr/>
        <a:lstStyle/>
        <a:p>
          <a:r>
            <a:rPr lang="en-US" sz="2000" b="1" dirty="0"/>
            <a:t>Task 3</a:t>
          </a:r>
          <a:r>
            <a:rPr lang="en-US" sz="2000" dirty="0"/>
            <a:t> — Correct Time-Dependent Offset (model and normalize pixel values vs integration time)</a:t>
          </a:r>
          <a:endParaRPr lang="en-US" sz="2200" dirty="0"/>
        </a:p>
      </dgm:t>
    </dgm:pt>
    <dgm:pt modelId="{1FBB9C5F-2080-4568-889E-6F75E2F423DA}" type="parTrans" cxnId="{EF7E99F8-319A-446D-8C12-E19E0338AAFA}">
      <dgm:prSet/>
      <dgm:spPr/>
      <dgm:t>
        <a:bodyPr/>
        <a:lstStyle/>
        <a:p>
          <a:endParaRPr lang="en-US"/>
        </a:p>
      </dgm:t>
    </dgm:pt>
    <dgm:pt modelId="{50163D03-C040-43FD-843A-4DF2232F6895}" type="sibTrans" cxnId="{EF7E99F8-319A-446D-8C12-E19E0338AAFA}">
      <dgm:prSet/>
      <dgm:spPr/>
      <dgm:t>
        <a:bodyPr/>
        <a:lstStyle/>
        <a:p>
          <a:endParaRPr lang="en-US"/>
        </a:p>
      </dgm:t>
    </dgm:pt>
    <dgm:pt modelId="{647CD2B8-CF50-4D81-97B1-A09E9ABFA4B2}">
      <dgm:prSet custT="1"/>
      <dgm:spPr/>
      <dgm:t>
        <a:bodyPr/>
        <a:lstStyle/>
        <a:p>
          <a:r>
            <a:rPr lang="en-US" sz="2000" b="1" dirty="0"/>
            <a:t>Task 4</a:t>
          </a:r>
          <a:r>
            <a:rPr lang="en-US" sz="2000" dirty="0"/>
            <a:t> — Correct Row-Dependent Offset (apply region-wise correction for spatial non-uniformity)</a:t>
          </a:r>
          <a:endParaRPr lang="en-US" sz="2200" dirty="0"/>
        </a:p>
      </dgm:t>
    </dgm:pt>
    <dgm:pt modelId="{09E0C4BB-A531-4B3D-AB49-B2674C18E315}" type="parTrans" cxnId="{694D490C-FCF6-4A44-9D2E-4858C71ACFE9}">
      <dgm:prSet/>
      <dgm:spPr/>
      <dgm:t>
        <a:bodyPr/>
        <a:lstStyle/>
        <a:p>
          <a:endParaRPr lang="en-US"/>
        </a:p>
      </dgm:t>
    </dgm:pt>
    <dgm:pt modelId="{5E304A46-66C9-4B9F-821A-E72FE99680CA}" type="sibTrans" cxnId="{694D490C-FCF6-4A44-9D2E-4858C71ACFE9}">
      <dgm:prSet/>
      <dgm:spPr/>
      <dgm:t>
        <a:bodyPr/>
        <a:lstStyle/>
        <a:p>
          <a:endParaRPr lang="en-US"/>
        </a:p>
      </dgm:t>
    </dgm:pt>
    <dgm:pt modelId="{16D0167D-BD0D-4130-BBED-1904C2D1BE79}">
      <dgm:prSet custT="1"/>
      <dgm:spPr/>
      <dgm:t>
        <a:bodyPr/>
        <a:lstStyle/>
        <a:p>
          <a:r>
            <a:rPr lang="en-US" sz="2000" dirty="0"/>
            <a:t>Final Calibrated Image — Offset-corrected, spatially consistent detector image ready for use</a:t>
          </a:r>
          <a:endParaRPr lang="en-US" sz="2200" dirty="0"/>
        </a:p>
      </dgm:t>
    </dgm:pt>
    <dgm:pt modelId="{8364E3B7-03B9-43B9-B0EF-13C709E4136C}" type="parTrans" cxnId="{C7A2BECD-A105-4342-89B1-4D1F95CA4A4A}">
      <dgm:prSet/>
      <dgm:spPr/>
      <dgm:t>
        <a:bodyPr/>
        <a:lstStyle/>
        <a:p>
          <a:endParaRPr lang="en-US"/>
        </a:p>
      </dgm:t>
    </dgm:pt>
    <dgm:pt modelId="{3AD98510-157E-4643-BE2C-46B525F5F959}" type="sibTrans" cxnId="{C7A2BECD-A105-4342-89B1-4D1F95CA4A4A}">
      <dgm:prSet/>
      <dgm:spPr/>
      <dgm:t>
        <a:bodyPr/>
        <a:lstStyle/>
        <a:p>
          <a:endParaRPr lang="en-US"/>
        </a:p>
      </dgm:t>
    </dgm:pt>
    <dgm:pt modelId="{79907438-0DA3-40AB-8489-BB3BCF8668FC}" type="pres">
      <dgm:prSet presAssocID="{7D3BD6B3-F3D2-4F08-82B4-716273889E10}" presName="Name0" presStyleCnt="0">
        <dgm:presLayoutVars>
          <dgm:dir/>
          <dgm:resizeHandles val="exact"/>
        </dgm:presLayoutVars>
      </dgm:prSet>
      <dgm:spPr/>
    </dgm:pt>
    <dgm:pt modelId="{89124C6A-FDA1-45D9-AB50-D12787D3CEA7}" type="pres">
      <dgm:prSet presAssocID="{35D5B910-3354-4C8E-BC8D-846563EAFFE0}" presName="node" presStyleLbl="node1" presStyleIdx="0" presStyleCnt="6">
        <dgm:presLayoutVars>
          <dgm:bulletEnabled val="1"/>
        </dgm:presLayoutVars>
      </dgm:prSet>
      <dgm:spPr/>
    </dgm:pt>
    <dgm:pt modelId="{EF3F4679-F9DF-444A-98C0-B2BB4E6F8767}" type="pres">
      <dgm:prSet presAssocID="{1CB70082-01C5-4FA6-9348-9FA8E5274E6E}" presName="sibTrans" presStyleLbl="sibTrans1D1" presStyleIdx="0" presStyleCnt="5"/>
      <dgm:spPr/>
    </dgm:pt>
    <dgm:pt modelId="{209F43D4-A21E-438F-8821-174E69FEA159}" type="pres">
      <dgm:prSet presAssocID="{1CB70082-01C5-4FA6-9348-9FA8E5274E6E}" presName="connectorText" presStyleLbl="sibTrans1D1" presStyleIdx="0" presStyleCnt="5"/>
      <dgm:spPr/>
    </dgm:pt>
    <dgm:pt modelId="{AAC180C8-DAEF-452D-B147-4583BD5DD6B6}" type="pres">
      <dgm:prSet presAssocID="{7C7489B6-DCAF-4CA6-98B0-21D4EBF9E3EB}" presName="node" presStyleLbl="node1" presStyleIdx="1" presStyleCnt="6">
        <dgm:presLayoutVars>
          <dgm:bulletEnabled val="1"/>
        </dgm:presLayoutVars>
      </dgm:prSet>
      <dgm:spPr/>
    </dgm:pt>
    <dgm:pt modelId="{338A92CC-134A-4FE5-BE96-5522A6B7D9CE}" type="pres">
      <dgm:prSet presAssocID="{4FAF96A3-029A-4E6D-AAEF-FE4FF650B436}" presName="sibTrans" presStyleLbl="sibTrans1D1" presStyleIdx="1" presStyleCnt="5"/>
      <dgm:spPr/>
    </dgm:pt>
    <dgm:pt modelId="{4B2F8367-CA84-492B-83AF-0B47EADF6725}" type="pres">
      <dgm:prSet presAssocID="{4FAF96A3-029A-4E6D-AAEF-FE4FF650B436}" presName="connectorText" presStyleLbl="sibTrans1D1" presStyleIdx="1" presStyleCnt="5"/>
      <dgm:spPr/>
    </dgm:pt>
    <dgm:pt modelId="{1E6E8246-4866-431C-BB1E-6C0AADE7B823}" type="pres">
      <dgm:prSet presAssocID="{C285B103-02A4-43D2-A1A2-D1DD488C69A2}" presName="node" presStyleLbl="node1" presStyleIdx="2" presStyleCnt="6">
        <dgm:presLayoutVars>
          <dgm:bulletEnabled val="1"/>
        </dgm:presLayoutVars>
      </dgm:prSet>
      <dgm:spPr/>
    </dgm:pt>
    <dgm:pt modelId="{090DEFC1-7752-4D43-B5C2-BA929912AF7E}" type="pres">
      <dgm:prSet presAssocID="{68F79CD5-D29C-4D83-9457-6D45F1EC109A}" presName="sibTrans" presStyleLbl="sibTrans1D1" presStyleIdx="2" presStyleCnt="5"/>
      <dgm:spPr/>
    </dgm:pt>
    <dgm:pt modelId="{4EA6069F-4A8D-4C08-A01C-E34C7F09B8EE}" type="pres">
      <dgm:prSet presAssocID="{68F79CD5-D29C-4D83-9457-6D45F1EC109A}" presName="connectorText" presStyleLbl="sibTrans1D1" presStyleIdx="2" presStyleCnt="5"/>
      <dgm:spPr/>
    </dgm:pt>
    <dgm:pt modelId="{5BE8CA10-F1E3-4A1A-9522-ABE0671F6C14}" type="pres">
      <dgm:prSet presAssocID="{68FF28C2-E415-4D1C-BC4A-EE2EC257D493}" presName="node" presStyleLbl="node1" presStyleIdx="3" presStyleCnt="6">
        <dgm:presLayoutVars>
          <dgm:bulletEnabled val="1"/>
        </dgm:presLayoutVars>
      </dgm:prSet>
      <dgm:spPr/>
    </dgm:pt>
    <dgm:pt modelId="{261EB5B4-5FB3-4D4C-8BD0-011CB80F53EA}" type="pres">
      <dgm:prSet presAssocID="{50163D03-C040-43FD-843A-4DF2232F6895}" presName="sibTrans" presStyleLbl="sibTrans1D1" presStyleIdx="3" presStyleCnt="5"/>
      <dgm:spPr/>
    </dgm:pt>
    <dgm:pt modelId="{C231188F-065C-4709-804B-7409AD90481E}" type="pres">
      <dgm:prSet presAssocID="{50163D03-C040-43FD-843A-4DF2232F6895}" presName="connectorText" presStyleLbl="sibTrans1D1" presStyleIdx="3" presStyleCnt="5"/>
      <dgm:spPr/>
    </dgm:pt>
    <dgm:pt modelId="{3DC81378-7529-46BA-9E72-FD723EAE0FCC}" type="pres">
      <dgm:prSet presAssocID="{647CD2B8-CF50-4D81-97B1-A09E9ABFA4B2}" presName="node" presStyleLbl="node1" presStyleIdx="4" presStyleCnt="6">
        <dgm:presLayoutVars>
          <dgm:bulletEnabled val="1"/>
        </dgm:presLayoutVars>
      </dgm:prSet>
      <dgm:spPr/>
    </dgm:pt>
    <dgm:pt modelId="{994C6A0F-A97F-4EC6-ABFE-9B0E74E22A3C}" type="pres">
      <dgm:prSet presAssocID="{5E304A46-66C9-4B9F-821A-E72FE99680CA}" presName="sibTrans" presStyleLbl="sibTrans1D1" presStyleIdx="4" presStyleCnt="5"/>
      <dgm:spPr/>
    </dgm:pt>
    <dgm:pt modelId="{CA90597E-9DD3-47E3-8309-E4326CDD23CA}" type="pres">
      <dgm:prSet presAssocID="{5E304A46-66C9-4B9F-821A-E72FE99680CA}" presName="connectorText" presStyleLbl="sibTrans1D1" presStyleIdx="4" presStyleCnt="5"/>
      <dgm:spPr/>
    </dgm:pt>
    <dgm:pt modelId="{47DB02D2-8EDE-4B52-8892-73FA7797F772}" type="pres">
      <dgm:prSet presAssocID="{16D0167D-BD0D-4130-BBED-1904C2D1BE79}" presName="node" presStyleLbl="node1" presStyleIdx="5" presStyleCnt="6">
        <dgm:presLayoutVars>
          <dgm:bulletEnabled val="1"/>
        </dgm:presLayoutVars>
      </dgm:prSet>
      <dgm:spPr/>
    </dgm:pt>
  </dgm:ptLst>
  <dgm:cxnLst>
    <dgm:cxn modelId="{23337D08-692C-4737-824A-73F622A3755D}" type="presOf" srcId="{50163D03-C040-43FD-843A-4DF2232F6895}" destId="{261EB5B4-5FB3-4D4C-8BD0-011CB80F53EA}" srcOrd="0" destOrd="0" presId="urn:microsoft.com/office/officeart/2016/7/layout/RepeatingBendingProcessNew"/>
    <dgm:cxn modelId="{694D490C-FCF6-4A44-9D2E-4858C71ACFE9}" srcId="{7D3BD6B3-F3D2-4F08-82B4-716273889E10}" destId="{647CD2B8-CF50-4D81-97B1-A09E9ABFA4B2}" srcOrd="4" destOrd="0" parTransId="{09E0C4BB-A531-4B3D-AB49-B2674C18E315}" sibTransId="{5E304A46-66C9-4B9F-821A-E72FE99680CA}"/>
    <dgm:cxn modelId="{47EFAF30-BB56-481A-8A09-6A76330A7C76}" type="presOf" srcId="{4FAF96A3-029A-4E6D-AAEF-FE4FF650B436}" destId="{4B2F8367-CA84-492B-83AF-0B47EADF6725}" srcOrd="1" destOrd="0" presId="urn:microsoft.com/office/officeart/2016/7/layout/RepeatingBendingProcessNew"/>
    <dgm:cxn modelId="{6EA0BA30-5E4D-4391-8866-CAF7D51494CE}" type="presOf" srcId="{1CB70082-01C5-4FA6-9348-9FA8E5274E6E}" destId="{209F43D4-A21E-438F-8821-174E69FEA159}" srcOrd="1" destOrd="0" presId="urn:microsoft.com/office/officeart/2016/7/layout/RepeatingBendingProcessNew"/>
    <dgm:cxn modelId="{18D34735-986F-43FD-8090-63B00C4B2C04}" type="presOf" srcId="{5E304A46-66C9-4B9F-821A-E72FE99680CA}" destId="{994C6A0F-A97F-4EC6-ABFE-9B0E74E22A3C}" srcOrd="0" destOrd="0" presId="urn:microsoft.com/office/officeart/2016/7/layout/RepeatingBendingProcessNew"/>
    <dgm:cxn modelId="{21BF2C36-171C-4802-9AE5-600E74E5A788}" type="presOf" srcId="{C285B103-02A4-43D2-A1A2-D1DD488C69A2}" destId="{1E6E8246-4866-431C-BB1E-6C0AADE7B823}" srcOrd="0" destOrd="0" presId="urn:microsoft.com/office/officeart/2016/7/layout/RepeatingBendingProcessNew"/>
    <dgm:cxn modelId="{D2584C37-AE54-4393-B09B-3D236F419BA3}" type="presOf" srcId="{50163D03-C040-43FD-843A-4DF2232F6895}" destId="{C231188F-065C-4709-804B-7409AD90481E}" srcOrd="1" destOrd="0" presId="urn:microsoft.com/office/officeart/2016/7/layout/RepeatingBendingProcessNew"/>
    <dgm:cxn modelId="{E5C9DD3D-251F-4979-97AC-F37928793971}" type="presOf" srcId="{4FAF96A3-029A-4E6D-AAEF-FE4FF650B436}" destId="{338A92CC-134A-4FE5-BE96-5522A6B7D9CE}" srcOrd="0" destOrd="0" presId="urn:microsoft.com/office/officeart/2016/7/layout/RepeatingBendingProcessNew"/>
    <dgm:cxn modelId="{0ADE534D-054F-4383-86CE-11745A19DCB9}" type="presOf" srcId="{35D5B910-3354-4C8E-BC8D-846563EAFFE0}" destId="{89124C6A-FDA1-45D9-AB50-D12787D3CEA7}" srcOrd="0" destOrd="0" presId="urn:microsoft.com/office/officeart/2016/7/layout/RepeatingBendingProcessNew"/>
    <dgm:cxn modelId="{689C634E-AA25-48B6-A4A8-5DA56C0588E7}" type="presOf" srcId="{68F79CD5-D29C-4D83-9457-6D45F1EC109A}" destId="{4EA6069F-4A8D-4C08-A01C-E34C7F09B8EE}" srcOrd="1" destOrd="0" presId="urn:microsoft.com/office/officeart/2016/7/layout/RepeatingBendingProcessNew"/>
    <dgm:cxn modelId="{03B5F87D-5542-4216-90BA-3ABF192A7BFF}" type="presOf" srcId="{16D0167D-BD0D-4130-BBED-1904C2D1BE79}" destId="{47DB02D2-8EDE-4B52-8892-73FA7797F772}" srcOrd="0" destOrd="0" presId="urn:microsoft.com/office/officeart/2016/7/layout/RepeatingBendingProcessNew"/>
    <dgm:cxn modelId="{FF2E1993-EC4B-4786-9F8D-3D471B8C13C6}" type="presOf" srcId="{647CD2B8-CF50-4D81-97B1-A09E9ABFA4B2}" destId="{3DC81378-7529-46BA-9E72-FD723EAE0FCC}" srcOrd="0" destOrd="0" presId="urn:microsoft.com/office/officeart/2016/7/layout/RepeatingBendingProcessNew"/>
    <dgm:cxn modelId="{E39B4A9C-11F6-48D1-8E0D-223007FB4DB6}" type="presOf" srcId="{1CB70082-01C5-4FA6-9348-9FA8E5274E6E}" destId="{EF3F4679-F9DF-444A-98C0-B2BB4E6F8767}" srcOrd="0" destOrd="0" presId="urn:microsoft.com/office/officeart/2016/7/layout/RepeatingBendingProcessNew"/>
    <dgm:cxn modelId="{4EB7DDA4-515B-46CE-BB10-19E89A9BDB81}" type="presOf" srcId="{5E304A46-66C9-4B9F-821A-E72FE99680CA}" destId="{CA90597E-9DD3-47E3-8309-E4326CDD23CA}" srcOrd="1" destOrd="0" presId="urn:microsoft.com/office/officeart/2016/7/layout/RepeatingBendingProcessNew"/>
    <dgm:cxn modelId="{221CE6AA-9DBF-47EF-A3FD-87F8513B1FCF}" type="presOf" srcId="{68FF28C2-E415-4D1C-BC4A-EE2EC257D493}" destId="{5BE8CA10-F1E3-4A1A-9522-ABE0671F6C14}" srcOrd="0" destOrd="0" presId="urn:microsoft.com/office/officeart/2016/7/layout/RepeatingBendingProcessNew"/>
    <dgm:cxn modelId="{A48A4FC3-76F2-4B40-A169-B8BA959CCDCE}" type="presOf" srcId="{7C7489B6-DCAF-4CA6-98B0-21D4EBF9E3EB}" destId="{AAC180C8-DAEF-452D-B147-4583BD5DD6B6}" srcOrd="0" destOrd="0" presId="urn:microsoft.com/office/officeart/2016/7/layout/RepeatingBendingProcessNew"/>
    <dgm:cxn modelId="{C7A2BECD-A105-4342-89B1-4D1F95CA4A4A}" srcId="{7D3BD6B3-F3D2-4F08-82B4-716273889E10}" destId="{16D0167D-BD0D-4130-BBED-1904C2D1BE79}" srcOrd="5" destOrd="0" parTransId="{8364E3B7-03B9-43B9-B0EF-13C709E4136C}" sibTransId="{3AD98510-157E-4643-BE2C-46B525F5F959}"/>
    <dgm:cxn modelId="{78B581D7-3181-490A-8553-FB25D90452B5}" type="presOf" srcId="{7D3BD6B3-F3D2-4F08-82B4-716273889E10}" destId="{79907438-0DA3-40AB-8489-BB3BCF8668FC}" srcOrd="0" destOrd="0" presId="urn:microsoft.com/office/officeart/2016/7/layout/RepeatingBendingProcessNew"/>
    <dgm:cxn modelId="{82186EF2-6D57-4C2D-AD8C-20E0166ABCA0}" srcId="{7D3BD6B3-F3D2-4F08-82B4-716273889E10}" destId="{C285B103-02A4-43D2-A1A2-D1DD488C69A2}" srcOrd="2" destOrd="0" parTransId="{DE3816E8-20D4-4FBC-ACBC-C776ED3B1093}" sibTransId="{68F79CD5-D29C-4D83-9457-6D45F1EC109A}"/>
    <dgm:cxn modelId="{9942D2F3-DB7B-4E72-82F8-91A664043C2B}" srcId="{7D3BD6B3-F3D2-4F08-82B4-716273889E10}" destId="{7C7489B6-DCAF-4CA6-98B0-21D4EBF9E3EB}" srcOrd="1" destOrd="0" parTransId="{7491DD2E-6039-4ED4-9992-AD746E7C1CBC}" sibTransId="{4FAF96A3-029A-4E6D-AAEF-FE4FF650B436}"/>
    <dgm:cxn modelId="{E5C81AF6-23DE-443B-868F-B6A58259B015}" srcId="{7D3BD6B3-F3D2-4F08-82B4-716273889E10}" destId="{35D5B910-3354-4C8E-BC8D-846563EAFFE0}" srcOrd="0" destOrd="0" parTransId="{ABEA2A82-6D4F-45E7-817C-166CB3521B7C}" sibTransId="{1CB70082-01C5-4FA6-9348-9FA8E5274E6E}"/>
    <dgm:cxn modelId="{EF7E99F8-319A-446D-8C12-E19E0338AAFA}" srcId="{7D3BD6B3-F3D2-4F08-82B4-716273889E10}" destId="{68FF28C2-E415-4D1C-BC4A-EE2EC257D493}" srcOrd="3" destOrd="0" parTransId="{1FBB9C5F-2080-4568-889E-6F75E2F423DA}" sibTransId="{50163D03-C040-43FD-843A-4DF2232F6895}"/>
    <dgm:cxn modelId="{571916FE-3813-4FE9-9476-C0C86EB365C4}" type="presOf" srcId="{68F79CD5-D29C-4D83-9457-6D45F1EC109A}" destId="{090DEFC1-7752-4D43-B5C2-BA929912AF7E}" srcOrd="0" destOrd="0" presId="urn:microsoft.com/office/officeart/2016/7/layout/RepeatingBendingProcessNew"/>
    <dgm:cxn modelId="{68C7A85F-A83C-462A-9E5A-D8DA332CDBB8}" type="presParOf" srcId="{79907438-0DA3-40AB-8489-BB3BCF8668FC}" destId="{89124C6A-FDA1-45D9-AB50-D12787D3CEA7}" srcOrd="0" destOrd="0" presId="urn:microsoft.com/office/officeart/2016/7/layout/RepeatingBendingProcessNew"/>
    <dgm:cxn modelId="{7402CD2B-31DA-4640-BB2F-9D9F2E501E39}" type="presParOf" srcId="{79907438-0DA3-40AB-8489-BB3BCF8668FC}" destId="{EF3F4679-F9DF-444A-98C0-B2BB4E6F8767}" srcOrd="1" destOrd="0" presId="urn:microsoft.com/office/officeart/2016/7/layout/RepeatingBendingProcessNew"/>
    <dgm:cxn modelId="{875AABFF-18F7-48D2-81E8-DE57E373A709}" type="presParOf" srcId="{EF3F4679-F9DF-444A-98C0-B2BB4E6F8767}" destId="{209F43D4-A21E-438F-8821-174E69FEA159}" srcOrd="0" destOrd="0" presId="urn:microsoft.com/office/officeart/2016/7/layout/RepeatingBendingProcessNew"/>
    <dgm:cxn modelId="{7FAF757F-92F4-42AD-8B5D-6C2C446C0DA0}" type="presParOf" srcId="{79907438-0DA3-40AB-8489-BB3BCF8668FC}" destId="{AAC180C8-DAEF-452D-B147-4583BD5DD6B6}" srcOrd="2" destOrd="0" presId="urn:microsoft.com/office/officeart/2016/7/layout/RepeatingBendingProcessNew"/>
    <dgm:cxn modelId="{39C094D2-7816-4294-885A-CEC6009D9280}" type="presParOf" srcId="{79907438-0DA3-40AB-8489-BB3BCF8668FC}" destId="{338A92CC-134A-4FE5-BE96-5522A6B7D9CE}" srcOrd="3" destOrd="0" presId="urn:microsoft.com/office/officeart/2016/7/layout/RepeatingBendingProcessNew"/>
    <dgm:cxn modelId="{1C2E2CAA-0734-4D3A-B36D-CDB83E0792FD}" type="presParOf" srcId="{338A92CC-134A-4FE5-BE96-5522A6B7D9CE}" destId="{4B2F8367-CA84-492B-83AF-0B47EADF6725}" srcOrd="0" destOrd="0" presId="urn:microsoft.com/office/officeart/2016/7/layout/RepeatingBendingProcessNew"/>
    <dgm:cxn modelId="{F9339C73-DCC7-4BE9-9F79-C62FC22C7963}" type="presParOf" srcId="{79907438-0DA3-40AB-8489-BB3BCF8668FC}" destId="{1E6E8246-4866-431C-BB1E-6C0AADE7B823}" srcOrd="4" destOrd="0" presId="urn:microsoft.com/office/officeart/2016/7/layout/RepeatingBendingProcessNew"/>
    <dgm:cxn modelId="{1275483E-5315-4E9D-8A0A-D1971680D7C9}" type="presParOf" srcId="{79907438-0DA3-40AB-8489-BB3BCF8668FC}" destId="{090DEFC1-7752-4D43-B5C2-BA929912AF7E}" srcOrd="5" destOrd="0" presId="urn:microsoft.com/office/officeart/2016/7/layout/RepeatingBendingProcessNew"/>
    <dgm:cxn modelId="{EDFD2DC6-BD76-420A-9496-2D467B807CAF}" type="presParOf" srcId="{090DEFC1-7752-4D43-B5C2-BA929912AF7E}" destId="{4EA6069F-4A8D-4C08-A01C-E34C7F09B8EE}" srcOrd="0" destOrd="0" presId="urn:microsoft.com/office/officeart/2016/7/layout/RepeatingBendingProcessNew"/>
    <dgm:cxn modelId="{B20A502F-55D6-4FE8-B43C-5CBB9C35597C}" type="presParOf" srcId="{79907438-0DA3-40AB-8489-BB3BCF8668FC}" destId="{5BE8CA10-F1E3-4A1A-9522-ABE0671F6C14}" srcOrd="6" destOrd="0" presId="urn:microsoft.com/office/officeart/2016/7/layout/RepeatingBendingProcessNew"/>
    <dgm:cxn modelId="{AED46C2E-F258-44F5-9A3C-1E21295137CD}" type="presParOf" srcId="{79907438-0DA3-40AB-8489-BB3BCF8668FC}" destId="{261EB5B4-5FB3-4D4C-8BD0-011CB80F53EA}" srcOrd="7" destOrd="0" presId="urn:microsoft.com/office/officeart/2016/7/layout/RepeatingBendingProcessNew"/>
    <dgm:cxn modelId="{54C85330-A055-4DB8-BA1B-EC242F80A5BB}" type="presParOf" srcId="{261EB5B4-5FB3-4D4C-8BD0-011CB80F53EA}" destId="{C231188F-065C-4709-804B-7409AD90481E}" srcOrd="0" destOrd="0" presId="urn:microsoft.com/office/officeart/2016/7/layout/RepeatingBendingProcessNew"/>
    <dgm:cxn modelId="{033C927A-FE6B-4A80-9574-F284A0F861BC}" type="presParOf" srcId="{79907438-0DA3-40AB-8489-BB3BCF8668FC}" destId="{3DC81378-7529-46BA-9E72-FD723EAE0FCC}" srcOrd="8" destOrd="0" presId="urn:microsoft.com/office/officeart/2016/7/layout/RepeatingBendingProcessNew"/>
    <dgm:cxn modelId="{37786329-F5B5-4903-AB20-3272A4B826D8}" type="presParOf" srcId="{79907438-0DA3-40AB-8489-BB3BCF8668FC}" destId="{994C6A0F-A97F-4EC6-ABFE-9B0E74E22A3C}" srcOrd="9" destOrd="0" presId="urn:microsoft.com/office/officeart/2016/7/layout/RepeatingBendingProcessNew"/>
    <dgm:cxn modelId="{CDB3FB99-0FCD-47E8-A2FB-926703CAB3B6}" type="presParOf" srcId="{994C6A0F-A97F-4EC6-ABFE-9B0E74E22A3C}" destId="{CA90597E-9DD3-47E3-8309-E4326CDD23CA}" srcOrd="0" destOrd="0" presId="urn:microsoft.com/office/officeart/2016/7/layout/RepeatingBendingProcessNew"/>
    <dgm:cxn modelId="{73870F6E-65F2-4EA1-9215-BF2A192BE440}" type="presParOf" srcId="{79907438-0DA3-40AB-8489-BB3BCF8668FC}" destId="{47DB02D2-8EDE-4B52-8892-73FA7797F77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39FD2-7E7C-49EB-A161-A4D4689011F6}">
      <dsp:nvSpPr>
        <dsp:cNvPr id="0" name=""/>
        <dsp:cNvSpPr/>
      </dsp:nvSpPr>
      <dsp:spPr>
        <a:xfrm>
          <a:off x="0" y="2402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5E643-D3E3-4E8C-8721-AC4883AB1B58}">
      <dsp:nvSpPr>
        <dsp:cNvPr id="0" name=""/>
        <dsp:cNvSpPr/>
      </dsp:nvSpPr>
      <dsp:spPr>
        <a:xfrm>
          <a:off x="0" y="2402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+mj-lt"/>
              <a:cs typeface="Arial" panose="020B0604020202020204" pitchFamily="34" charset="0"/>
            </a:rPr>
            <a:t>Understood how raw detector images are stored as binary numeric data</a:t>
          </a:r>
          <a:r>
            <a:rPr lang="en-US" sz="2000" b="0" i="0" kern="1200" baseline="0" dirty="0">
              <a:latin typeface="+mj-lt"/>
            </a:rPr>
            <a:t>.</a:t>
          </a:r>
          <a:endParaRPr lang="en-US" sz="2000" kern="1200" dirty="0">
            <a:latin typeface="+mj-lt"/>
          </a:endParaRPr>
        </a:p>
      </dsp:txBody>
      <dsp:txXfrm>
        <a:off x="0" y="2402"/>
        <a:ext cx="10455907" cy="819143"/>
      </dsp:txXfrm>
    </dsp:sp>
    <dsp:sp modelId="{C0B92A8C-10CC-430F-859A-937A3C09D90E}">
      <dsp:nvSpPr>
        <dsp:cNvPr id="0" name=""/>
        <dsp:cNvSpPr/>
      </dsp:nvSpPr>
      <dsp:spPr>
        <a:xfrm>
          <a:off x="0" y="821545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FD07D-CAD4-42CE-BCD5-D5D640C5B287}">
      <dsp:nvSpPr>
        <dsp:cNvPr id="0" name=""/>
        <dsp:cNvSpPr/>
      </dsp:nvSpPr>
      <dsp:spPr>
        <a:xfrm>
          <a:off x="0" y="821545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+mj-lt"/>
              <a:cs typeface="Arial" panose="020B0604020202020204" pitchFamily="34" charset="0"/>
            </a:rPr>
            <a:t>Learned the structure of detector files, including headers and pixel data</a:t>
          </a:r>
          <a:r>
            <a:rPr lang="en-US" sz="19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821545"/>
        <a:ext cx="10455907" cy="819143"/>
      </dsp:txXfrm>
    </dsp:sp>
    <dsp:sp modelId="{5BD9B091-2352-4E66-A9A8-341BD53F0CC2}">
      <dsp:nvSpPr>
        <dsp:cNvPr id="0" name=""/>
        <dsp:cNvSpPr/>
      </dsp:nvSpPr>
      <dsp:spPr>
        <a:xfrm>
          <a:off x="0" y="1640688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905AE-14EA-4510-9BEF-93645D9C4721}">
      <dsp:nvSpPr>
        <dsp:cNvPr id="0" name=""/>
        <dsp:cNvSpPr/>
      </dsp:nvSpPr>
      <dsp:spPr>
        <a:xfrm>
          <a:off x="0" y="1640688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+mj-lt"/>
              <a:cs typeface="Arial" panose="020B0604020202020204" pitchFamily="34" charset="0"/>
            </a:rPr>
            <a:t>Gained clarity on 16-bit grayscale images and the meaning of ADU values</a:t>
          </a:r>
          <a:r>
            <a:rPr lang="en-US" sz="2000" b="0" i="0" kern="1200" baseline="0" dirty="0"/>
            <a:t>.</a:t>
          </a:r>
          <a:endParaRPr lang="en-US" sz="2000" kern="1200" dirty="0"/>
        </a:p>
      </dsp:txBody>
      <dsp:txXfrm>
        <a:off x="0" y="1640688"/>
        <a:ext cx="10455907" cy="819143"/>
      </dsp:txXfrm>
    </dsp:sp>
    <dsp:sp modelId="{7DEDE267-7ADA-4D0F-ABF2-341DC113CA50}">
      <dsp:nvSpPr>
        <dsp:cNvPr id="0" name=""/>
        <dsp:cNvSpPr/>
      </dsp:nvSpPr>
      <dsp:spPr>
        <a:xfrm>
          <a:off x="0" y="2459831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0EAE-FD4F-4D9C-8AB4-9A8FFFE65224}">
      <dsp:nvSpPr>
        <dsp:cNvPr id="0" name=""/>
        <dsp:cNvSpPr/>
      </dsp:nvSpPr>
      <dsp:spPr>
        <a:xfrm>
          <a:off x="0" y="2459831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Century Gothic "/>
              <a:cs typeface="Arial" panose="020B0604020202020204" pitchFamily="34" charset="0"/>
            </a:rPr>
            <a:t>Learned how to correctly interpret raw memory into a 2D image.</a:t>
          </a:r>
          <a:endParaRPr lang="en-US" sz="2000" kern="1200" dirty="0">
            <a:latin typeface="Century Gothic "/>
            <a:cs typeface="Arial" panose="020B0604020202020204" pitchFamily="34" charset="0"/>
          </a:endParaRPr>
        </a:p>
      </dsp:txBody>
      <dsp:txXfrm>
        <a:off x="0" y="2459831"/>
        <a:ext cx="10455907" cy="819143"/>
      </dsp:txXfrm>
    </dsp:sp>
    <dsp:sp modelId="{21DE8367-00B3-451F-93C0-04BC104BA0D6}">
      <dsp:nvSpPr>
        <dsp:cNvPr id="0" name=""/>
        <dsp:cNvSpPr/>
      </dsp:nvSpPr>
      <dsp:spPr>
        <a:xfrm>
          <a:off x="0" y="3278974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301A4-8BB4-44A2-BDB3-454885E36714}">
      <dsp:nvSpPr>
        <dsp:cNvPr id="0" name=""/>
        <dsp:cNvSpPr/>
      </dsp:nvSpPr>
      <dsp:spPr>
        <a:xfrm>
          <a:off x="0" y="3278974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>
              <a:latin typeface="+mj-lt"/>
              <a:cs typeface="Arial" panose="020B0604020202020204" pitchFamily="34" charset="0"/>
            </a:rPr>
            <a:t>Applied basic image processing techniques to analyze detector behavior</a:t>
          </a:r>
          <a:r>
            <a:rPr lang="en-US" sz="2000" b="0" i="0" kern="1200" baseline="0" dirty="0">
              <a:latin typeface="+mj-lt"/>
            </a:rPr>
            <a:t>.</a:t>
          </a:r>
          <a:endParaRPr lang="en-US" sz="2000" kern="1200" dirty="0">
            <a:latin typeface="+mj-lt"/>
          </a:endParaRPr>
        </a:p>
      </dsp:txBody>
      <dsp:txXfrm>
        <a:off x="0" y="3278974"/>
        <a:ext cx="10455907" cy="819143"/>
      </dsp:txXfrm>
    </dsp:sp>
    <dsp:sp modelId="{89045616-869E-4448-BD4C-7DAC4F2500D1}">
      <dsp:nvSpPr>
        <dsp:cNvPr id="0" name=""/>
        <dsp:cNvSpPr/>
      </dsp:nvSpPr>
      <dsp:spPr>
        <a:xfrm>
          <a:off x="0" y="4098117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F13CF-5DF7-4299-BD33-46349C0E8F0C}">
      <dsp:nvSpPr>
        <dsp:cNvPr id="0" name=""/>
        <dsp:cNvSpPr/>
      </dsp:nvSpPr>
      <dsp:spPr>
        <a:xfrm>
          <a:off x="0" y="4098117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latin typeface="+mj-lt"/>
            </a:rPr>
            <a:t>CODE : </a:t>
          </a:r>
          <a:r>
            <a:rPr lang="en-US" sz="2000" kern="1200" dirty="0">
              <a:hlinkClick xmlns:r="http://schemas.openxmlformats.org/officeDocument/2006/relationships" r:id="rId1"/>
            </a:rPr>
            <a:t>Sahithi/</a:t>
          </a:r>
          <a:r>
            <a:rPr lang="en-US" sz="2000" kern="12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kern="1200" dirty="0">
              <a:hlinkClick xmlns:r="http://schemas.openxmlformats.org/officeDocument/2006/relationships" r:id="rId1"/>
            </a:rPr>
            <a:t>/Code &amp; </a:t>
          </a:r>
          <a:r>
            <a:rPr lang="en-US" sz="2000" kern="1200" dirty="0" err="1">
              <a:hlinkClick xmlns:r="http://schemas.openxmlformats.org/officeDocument/2006/relationships" r:id="rId1"/>
            </a:rPr>
            <a:t>Output_images</a:t>
          </a:r>
          <a:endParaRPr lang="en-US" sz="2000" b="1" i="0" u="sng" kern="1200" baseline="0" dirty="0">
            <a:solidFill>
              <a:schemeClr val="tx1"/>
            </a:solidFill>
            <a:latin typeface="+mj-lt"/>
            <a:cs typeface="Arial" panose="020B060402020202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0" y="4098117"/>
        <a:ext cx="10455907" cy="819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39FD2-7E7C-49EB-A161-A4D4689011F6}">
      <dsp:nvSpPr>
        <dsp:cNvPr id="0" name=""/>
        <dsp:cNvSpPr/>
      </dsp:nvSpPr>
      <dsp:spPr>
        <a:xfrm>
          <a:off x="0" y="2402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5E643-D3E3-4E8C-8721-AC4883AB1B58}">
      <dsp:nvSpPr>
        <dsp:cNvPr id="0" name=""/>
        <dsp:cNvSpPr/>
      </dsp:nvSpPr>
      <dsp:spPr>
        <a:xfrm>
          <a:off x="0" y="2402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how raw detector data maps directly to 2D image coordinates.</a:t>
          </a:r>
          <a:endParaRPr lang="en-US" sz="2000" kern="1200" dirty="0">
            <a:latin typeface="+mj-lt"/>
          </a:endParaRPr>
        </a:p>
      </dsp:txBody>
      <dsp:txXfrm>
        <a:off x="0" y="2402"/>
        <a:ext cx="10455907" cy="819143"/>
      </dsp:txXfrm>
    </dsp:sp>
    <dsp:sp modelId="{C0B92A8C-10CC-430F-859A-937A3C09D90E}">
      <dsp:nvSpPr>
        <dsp:cNvPr id="0" name=""/>
        <dsp:cNvSpPr/>
      </dsp:nvSpPr>
      <dsp:spPr>
        <a:xfrm>
          <a:off x="0" y="821545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FD07D-CAD4-42CE-BCD5-D5D640C5B287}">
      <dsp:nvSpPr>
        <dsp:cNvPr id="0" name=""/>
        <dsp:cNvSpPr/>
      </dsp:nvSpPr>
      <dsp:spPr>
        <a:xfrm>
          <a:off x="0" y="821545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to access an exact pixel value using row–column indexing</a:t>
          </a:r>
          <a:r>
            <a:rPr lang="en-US" sz="19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821545"/>
        <a:ext cx="10455907" cy="819143"/>
      </dsp:txXfrm>
    </dsp:sp>
    <dsp:sp modelId="{5BD9B091-2352-4E66-A9A8-341BD53F0CC2}">
      <dsp:nvSpPr>
        <dsp:cNvPr id="0" name=""/>
        <dsp:cNvSpPr/>
      </dsp:nvSpPr>
      <dsp:spPr>
        <a:xfrm>
          <a:off x="0" y="1640688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905AE-14EA-4510-9BEF-93645D9C4721}">
      <dsp:nvSpPr>
        <dsp:cNvPr id="0" name=""/>
        <dsp:cNvSpPr/>
      </dsp:nvSpPr>
      <dsp:spPr>
        <a:xfrm>
          <a:off x="0" y="1640688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Gained clarity on the importance of correct memory layout interpretation.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endParaRPr lang="en-US" sz="2000" kern="1200" dirty="0"/>
        </a:p>
      </dsp:txBody>
      <dsp:txXfrm>
        <a:off x="0" y="1640688"/>
        <a:ext cx="10455907" cy="819143"/>
      </dsp:txXfrm>
    </dsp:sp>
    <dsp:sp modelId="{7DEDE267-7ADA-4D0F-ABF2-341DC113CA50}">
      <dsp:nvSpPr>
        <dsp:cNvPr id="0" name=""/>
        <dsp:cNvSpPr/>
      </dsp:nvSpPr>
      <dsp:spPr>
        <a:xfrm>
          <a:off x="0" y="2459831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0EAE-FD4F-4D9C-8AB4-9A8FFFE65224}">
      <dsp:nvSpPr>
        <dsp:cNvPr id="0" name=""/>
        <dsp:cNvSpPr/>
      </dsp:nvSpPr>
      <dsp:spPr>
        <a:xfrm>
          <a:off x="0" y="2459831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Verified pixel values programmatically against visualization tools.</a:t>
          </a:r>
        </a:p>
      </dsp:txBody>
      <dsp:txXfrm>
        <a:off x="0" y="2459831"/>
        <a:ext cx="10455907" cy="819143"/>
      </dsp:txXfrm>
    </dsp:sp>
    <dsp:sp modelId="{21DE8367-00B3-451F-93C0-04BC104BA0D6}">
      <dsp:nvSpPr>
        <dsp:cNvPr id="0" name=""/>
        <dsp:cNvSpPr/>
      </dsp:nvSpPr>
      <dsp:spPr>
        <a:xfrm>
          <a:off x="0" y="3278974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301A4-8BB4-44A2-BDB3-454885E36714}">
      <dsp:nvSpPr>
        <dsp:cNvPr id="0" name=""/>
        <dsp:cNvSpPr/>
      </dsp:nvSpPr>
      <dsp:spPr>
        <a:xfrm>
          <a:off x="0" y="3278974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ADU values represent detector signal intensity.</a:t>
          </a:r>
          <a:endParaRPr lang="en-US" sz="2000" kern="1200" dirty="0">
            <a:latin typeface="+mj-lt"/>
          </a:endParaRPr>
        </a:p>
      </dsp:txBody>
      <dsp:txXfrm>
        <a:off x="0" y="3278974"/>
        <a:ext cx="10455907" cy="819143"/>
      </dsp:txXfrm>
    </dsp:sp>
    <dsp:sp modelId="{89045616-869E-4448-BD4C-7DAC4F2500D1}">
      <dsp:nvSpPr>
        <dsp:cNvPr id="0" name=""/>
        <dsp:cNvSpPr/>
      </dsp:nvSpPr>
      <dsp:spPr>
        <a:xfrm>
          <a:off x="0" y="4098117"/>
          <a:ext cx="1045590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F13CF-5DF7-4299-BD33-46349C0E8F0C}">
      <dsp:nvSpPr>
        <dsp:cNvPr id="0" name=""/>
        <dsp:cNvSpPr/>
      </dsp:nvSpPr>
      <dsp:spPr>
        <a:xfrm>
          <a:off x="0" y="4098117"/>
          <a:ext cx="10455907" cy="819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>
              <a:latin typeface="+mj-lt"/>
            </a:rPr>
            <a:t>CODE : </a:t>
          </a:r>
          <a:r>
            <a:rPr lang="en-US" sz="2000" kern="1200" dirty="0">
              <a:hlinkClick xmlns:r="http://schemas.openxmlformats.org/officeDocument/2006/relationships" r:id="rId1"/>
            </a:rPr>
            <a:t>Sahithi/</a:t>
          </a:r>
          <a:r>
            <a:rPr lang="en-US" sz="2000" kern="12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kern="1200" dirty="0">
              <a:hlinkClick xmlns:r="http://schemas.openxmlformats.org/officeDocument/2006/relationships" r:id="rId1"/>
            </a:rPr>
            <a:t>/Code &amp; </a:t>
          </a:r>
          <a:r>
            <a:rPr lang="en-US" sz="2000" kern="1200" dirty="0" err="1">
              <a:hlinkClick xmlns:r="http://schemas.openxmlformats.org/officeDocument/2006/relationships" r:id="rId1"/>
            </a:rPr>
            <a:t>Output_images</a:t>
          </a:r>
          <a:endParaRPr lang="en-US" sz="1300" kern="1200" dirty="0"/>
        </a:p>
      </dsp:txBody>
      <dsp:txXfrm>
        <a:off x="0" y="4098117"/>
        <a:ext cx="10455907" cy="8191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39FD2-7E7C-49EB-A161-A4D4689011F6}">
      <dsp:nvSpPr>
        <dsp:cNvPr id="0" name=""/>
        <dsp:cNvSpPr/>
      </dsp:nvSpPr>
      <dsp:spPr>
        <a:xfrm>
          <a:off x="0" y="3536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5E643-D3E3-4E8C-8721-AC4883AB1B58}">
      <dsp:nvSpPr>
        <dsp:cNvPr id="0" name=""/>
        <dsp:cNvSpPr/>
      </dsp:nvSpPr>
      <dsp:spPr>
        <a:xfrm>
          <a:off x="0" y="3536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how raw detector data maps directly to 2D image coordinates.</a:t>
          </a:r>
          <a:endParaRPr lang="en-US" sz="2000" kern="1200" dirty="0">
            <a:latin typeface="+mj-lt"/>
          </a:endParaRPr>
        </a:p>
      </dsp:txBody>
      <dsp:txXfrm>
        <a:off x="0" y="3536"/>
        <a:ext cx="10580152" cy="807796"/>
      </dsp:txXfrm>
    </dsp:sp>
    <dsp:sp modelId="{C0B92A8C-10CC-430F-859A-937A3C09D90E}">
      <dsp:nvSpPr>
        <dsp:cNvPr id="0" name=""/>
        <dsp:cNvSpPr/>
      </dsp:nvSpPr>
      <dsp:spPr>
        <a:xfrm>
          <a:off x="0" y="811332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FD07D-CAD4-42CE-BCD5-D5D640C5B287}">
      <dsp:nvSpPr>
        <dsp:cNvPr id="0" name=""/>
        <dsp:cNvSpPr/>
      </dsp:nvSpPr>
      <dsp:spPr>
        <a:xfrm>
          <a:off x="0" y="811332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to access an exact pixel value using row–column indexing</a:t>
          </a:r>
          <a:r>
            <a:rPr lang="en-US" sz="1900" b="0" i="0" kern="1200" baseline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19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811332"/>
        <a:ext cx="10580152" cy="807796"/>
      </dsp:txXfrm>
    </dsp:sp>
    <dsp:sp modelId="{5BD9B091-2352-4E66-A9A8-341BD53F0CC2}">
      <dsp:nvSpPr>
        <dsp:cNvPr id="0" name=""/>
        <dsp:cNvSpPr/>
      </dsp:nvSpPr>
      <dsp:spPr>
        <a:xfrm>
          <a:off x="0" y="1619129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905AE-14EA-4510-9BEF-93645D9C4721}">
      <dsp:nvSpPr>
        <dsp:cNvPr id="0" name=""/>
        <dsp:cNvSpPr/>
      </dsp:nvSpPr>
      <dsp:spPr>
        <a:xfrm>
          <a:off x="0" y="1619129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Gained clarity on the importance of correct memory layout interpretation.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endParaRPr lang="en-US" sz="2000" kern="1200" dirty="0"/>
        </a:p>
      </dsp:txBody>
      <dsp:txXfrm>
        <a:off x="0" y="1619129"/>
        <a:ext cx="10580152" cy="807796"/>
      </dsp:txXfrm>
    </dsp:sp>
    <dsp:sp modelId="{7DEDE267-7ADA-4D0F-ABF2-341DC113CA50}">
      <dsp:nvSpPr>
        <dsp:cNvPr id="0" name=""/>
        <dsp:cNvSpPr/>
      </dsp:nvSpPr>
      <dsp:spPr>
        <a:xfrm>
          <a:off x="0" y="2426925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0EAE-FD4F-4D9C-8AB4-9A8FFFE65224}">
      <dsp:nvSpPr>
        <dsp:cNvPr id="0" name=""/>
        <dsp:cNvSpPr/>
      </dsp:nvSpPr>
      <dsp:spPr>
        <a:xfrm>
          <a:off x="0" y="2426925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Verified pixel values programmatically against visualization tools.</a:t>
          </a:r>
        </a:p>
      </dsp:txBody>
      <dsp:txXfrm>
        <a:off x="0" y="2426925"/>
        <a:ext cx="10580152" cy="807796"/>
      </dsp:txXfrm>
    </dsp:sp>
    <dsp:sp modelId="{21DE8367-00B3-451F-93C0-04BC104BA0D6}">
      <dsp:nvSpPr>
        <dsp:cNvPr id="0" name=""/>
        <dsp:cNvSpPr/>
      </dsp:nvSpPr>
      <dsp:spPr>
        <a:xfrm>
          <a:off x="0" y="3234722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301A4-8BB4-44A2-BDB3-454885E36714}">
      <dsp:nvSpPr>
        <dsp:cNvPr id="0" name=""/>
        <dsp:cNvSpPr/>
      </dsp:nvSpPr>
      <dsp:spPr>
        <a:xfrm>
          <a:off x="0" y="3234722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how ADU values represent detector signal intensity.    </a:t>
          </a:r>
          <a:endParaRPr lang="en-US" sz="2000" kern="1200" dirty="0">
            <a:latin typeface="+mj-lt"/>
          </a:endParaRPr>
        </a:p>
      </dsp:txBody>
      <dsp:txXfrm>
        <a:off x="0" y="3234722"/>
        <a:ext cx="10580152" cy="807796"/>
      </dsp:txXfrm>
    </dsp:sp>
    <dsp:sp modelId="{89045616-869E-4448-BD4C-7DAC4F2500D1}">
      <dsp:nvSpPr>
        <dsp:cNvPr id="0" name=""/>
        <dsp:cNvSpPr/>
      </dsp:nvSpPr>
      <dsp:spPr>
        <a:xfrm>
          <a:off x="0" y="4042518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F13CF-5DF7-4299-BD33-46349C0E8F0C}">
      <dsp:nvSpPr>
        <dsp:cNvPr id="0" name=""/>
        <dsp:cNvSpPr/>
      </dsp:nvSpPr>
      <dsp:spPr>
        <a:xfrm>
          <a:off x="0" y="4042518"/>
          <a:ext cx="10384002" cy="1005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+mj-lt"/>
            </a:rPr>
            <a:t>CODE </a:t>
          </a:r>
          <a:r>
            <a:rPr lang="en-US" sz="2000" b="1" i="0" kern="1200" baseline="0" dirty="0">
              <a:latin typeface="+mj-lt"/>
            </a:rPr>
            <a:t>: </a:t>
          </a:r>
          <a:r>
            <a:rPr lang="en-US" sz="2000" kern="1200" dirty="0">
              <a:hlinkClick xmlns:r="http://schemas.openxmlformats.org/officeDocument/2006/relationships" r:id="rId1"/>
            </a:rPr>
            <a:t>Sahithi/</a:t>
          </a:r>
          <a:r>
            <a:rPr lang="en-US" sz="2000" kern="1200" dirty="0" err="1">
              <a:hlinkClick xmlns:r="http://schemas.openxmlformats.org/officeDocument/2006/relationships" r:id="rId1"/>
            </a:rPr>
            <a:t>Varex_mini_project_tasks</a:t>
          </a:r>
          <a:r>
            <a:rPr lang="en-US" sz="2000" kern="1200" dirty="0">
              <a:hlinkClick xmlns:r="http://schemas.openxmlformats.org/officeDocument/2006/relationships" r:id="rId1"/>
            </a:rPr>
            <a:t>/Code &amp; </a:t>
          </a:r>
          <a:r>
            <a:rPr lang="en-US" sz="2000" kern="1200" dirty="0" err="1">
              <a:hlinkClick xmlns:r="http://schemas.openxmlformats.org/officeDocument/2006/relationships" r:id="rId1"/>
            </a:rPr>
            <a:t>Output_images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0" y="4042518"/>
        <a:ext cx="10384002" cy="10054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39FD2-7E7C-49EB-A161-A4D4689011F6}">
      <dsp:nvSpPr>
        <dsp:cNvPr id="0" name=""/>
        <dsp:cNvSpPr/>
      </dsp:nvSpPr>
      <dsp:spPr>
        <a:xfrm>
          <a:off x="0" y="3536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5E643-D3E3-4E8C-8721-AC4883AB1B58}">
      <dsp:nvSpPr>
        <dsp:cNvPr id="0" name=""/>
        <dsp:cNvSpPr/>
      </dsp:nvSpPr>
      <dsp:spPr>
        <a:xfrm>
          <a:off x="0" y="3536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Learned that </a:t>
          </a:r>
          <a:r>
            <a:rPr kumimoji="0" lang="en-US" altLang="en-US" sz="20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"/>
            </a:rPr>
            <a:t>detector offset varies spatially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, not just with integration time.</a:t>
          </a:r>
        </a:p>
      </dsp:txBody>
      <dsp:txXfrm>
        <a:off x="0" y="3536"/>
        <a:ext cx="10580152" cy="807796"/>
      </dsp:txXfrm>
    </dsp:sp>
    <dsp:sp modelId="{C0B92A8C-10CC-430F-859A-937A3C09D90E}">
      <dsp:nvSpPr>
        <dsp:cNvPr id="0" name=""/>
        <dsp:cNvSpPr/>
      </dsp:nvSpPr>
      <dsp:spPr>
        <a:xfrm>
          <a:off x="0" y="811332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FD07D-CAD4-42CE-BCD5-D5D640C5B287}">
      <dsp:nvSpPr>
        <dsp:cNvPr id="0" name=""/>
        <dsp:cNvSpPr/>
      </dsp:nvSpPr>
      <dsp:spPr>
        <a:xfrm>
          <a:off x="0" y="811332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Understood the need for </a:t>
          </a:r>
          <a:r>
            <a:rPr kumimoji="0" lang="en-US" altLang="en-US" sz="19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row-region based analysis</a:t>
          </a:r>
          <a:r>
            <a:rPr kumimoji="0" lang="en-US" altLang="en-US" sz="19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instead of a single global average.</a:t>
          </a:r>
          <a:endParaRPr lang="en-US" sz="1900" kern="1200" dirty="0">
            <a:latin typeface="+mj-lt"/>
            <a:cs typeface="Arial" panose="020B0604020202020204" pitchFamily="34" charset="0"/>
          </a:endParaRPr>
        </a:p>
      </dsp:txBody>
      <dsp:txXfrm>
        <a:off x="0" y="811332"/>
        <a:ext cx="10580152" cy="807796"/>
      </dsp:txXfrm>
    </dsp:sp>
    <dsp:sp modelId="{5BD9B091-2352-4E66-A9A8-341BD53F0CC2}">
      <dsp:nvSpPr>
        <dsp:cNvPr id="0" name=""/>
        <dsp:cNvSpPr/>
      </dsp:nvSpPr>
      <dsp:spPr>
        <a:xfrm>
          <a:off x="0" y="1619129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905AE-14EA-4510-9BEF-93645D9C4721}">
      <dsp:nvSpPr>
        <dsp:cNvPr id="0" name=""/>
        <dsp:cNvSpPr/>
      </dsp:nvSpPr>
      <dsp:spPr>
        <a:xfrm>
          <a:off x="0" y="1619129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Applied </a:t>
          </a:r>
          <a:r>
            <a:rPr kumimoji="0" lang="en-US" altLang="en-US" sz="20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multiple polynomial models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to capture region-specific offset behavior.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endParaRPr lang="en-US" sz="2000" kern="1200" dirty="0"/>
        </a:p>
      </dsp:txBody>
      <dsp:txXfrm>
        <a:off x="0" y="1619129"/>
        <a:ext cx="10580152" cy="807796"/>
      </dsp:txXfrm>
    </dsp:sp>
    <dsp:sp modelId="{7DEDE267-7ADA-4D0F-ABF2-341DC113CA50}">
      <dsp:nvSpPr>
        <dsp:cNvPr id="0" name=""/>
        <dsp:cNvSpPr/>
      </dsp:nvSpPr>
      <dsp:spPr>
        <a:xfrm>
          <a:off x="0" y="2426925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D0EAE-FD4F-4D9C-8AB4-9A8FFFE65224}">
      <dsp:nvSpPr>
        <dsp:cNvPr id="0" name=""/>
        <dsp:cNvSpPr/>
      </dsp:nvSpPr>
      <dsp:spPr>
        <a:xfrm>
          <a:off x="0" y="2426925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Implemented </a:t>
          </a:r>
          <a:r>
            <a:rPr kumimoji="0" lang="en-US" altLang="en-US" sz="20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region-wise scaling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to normalize detector response accurately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endParaRPr kumimoji="0" lang="en-US" altLang="en-US" sz="2000" b="0" i="0" u="none" strike="noStrike" kern="1200" cap="none" normalizeH="0" baseline="0" dirty="0">
            <a:ln>
              <a:noFill/>
            </a:ln>
            <a:solidFill>
              <a:schemeClr val="tx1"/>
            </a:solidFill>
            <a:effectLst/>
            <a:latin typeface="+mj-lt"/>
          </a:endParaRPr>
        </a:p>
      </dsp:txBody>
      <dsp:txXfrm>
        <a:off x="0" y="2426925"/>
        <a:ext cx="10580152" cy="807796"/>
      </dsp:txXfrm>
    </dsp:sp>
    <dsp:sp modelId="{21DE8367-00B3-451F-93C0-04BC104BA0D6}">
      <dsp:nvSpPr>
        <dsp:cNvPr id="0" name=""/>
        <dsp:cNvSpPr/>
      </dsp:nvSpPr>
      <dsp:spPr>
        <a:xfrm>
          <a:off x="0" y="3234722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301A4-8BB4-44A2-BDB3-454885E36714}">
      <dsp:nvSpPr>
        <dsp:cNvPr id="0" name=""/>
        <dsp:cNvSpPr/>
      </dsp:nvSpPr>
      <dsp:spPr>
        <a:xfrm>
          <a:off x="0" y="3234722"/>
          <a:ext cx="10580152" cy="80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Validated correction using </a:t>
          </a:r>
          <a:r>
            <a:rPr kumimoji="0" lang="en-US" altLang="en-US" sz="2000" b="1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row-wise average plots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, ensuring spatial consistency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.</a:t>
          </a:r>
          <a:r>
            <a:rPr kumimoji="0" lang="en-US" altLang="en-US" sz="2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rPr>
            <a:t>    </a:t>
          </a:r>
          <a:endParaRPr lang="en-US" sz="2000" kern="1200" dirty="0">
            <a:latin typeface="+mj-lt"/>
          </a:endParaRPr>
        </a:p>
      </dsp:txBody>
      <dsp:txXfrm>
        <a:off x="0" y="3234722"/>
        <a:ext cx="10580152" cy="807796"/>
      </dsp:txXfrm>
    </dsp:sp>
    <dsp:sp modelId="{89045616-869E-4448-BD4C-7DAC4F2500D1}">
      <dsp:nvSpPr>
        <dsp:cNvPr id="0" name=""/>
        <dsp:cNvSpPr/>
      </dsp:nvSpPr>
      <dsp:spPr>
        <a:xfrm>
          <a:off x="0" y="4042518"/>
          <a:ext cx="1058015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F13CF-5DF7-4299-BD33-46349C0E8F0C}">
      <dsp:nvSpPr>
        <dsp:cNvPr id="0" name=""/>
        <dsp:cNvSpPr/>
      </dsp:nvSpPr>
      <dsp:spPr>
        <a:xfrm>
          <a:off x="0" y="4042518"/>
          <a:ext cx="10384002" cy="1005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+mj-lt"/>
            </a:rPr>
            <a:t>CODE : </a:t>
          </a:r>
          <a:r>
            <a:rPr lang="en-US" sz="2000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Sahithi/</a:t>
          </a:r>
          <a:r>
            <a:rPr lang="en-US" sz="2000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Varex_mini_project_tasks</a:t>
          </a:r>
          <a:r>
            <a:rPr lang="en-US" sz="2000" kern="1200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/Code &amp; </a:t>
          </a:r>
          <a:r>
            <a:rPr lang="en-US" sz="2000" kern="1200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Output_images</a:t>
          </a:r>
          <a:endParaRPr lang="en-US" sz="2000" kern="1200" dirty="0">
            <a:solidFill>
              <a:schemeClr val="tx1"/>
            </a:solidFill>
          </a:endParaRPr>
        </a:p>
      </dsp:txBody>
      <dsp:txXfrm>
        <a:off x="0" y="4042518"/>
        <a:ext cx="10384002" cy="10054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F4679-F9DF-444A-98C0-B2BB4E6F8767}">
      <dsp:nvSpPr>
        <dsp:cNvPr id="0" name=""/>
        <dsp:cNvSpPr/>
      </dsp:nvSpPr>
      <dsp:spPr>
        <a:xfrm>
          <a:off x="3365023" y="1050149"/>
          <a:ext cx="7417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4171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6574" y="1092007"/>
        <a:ext cx="38615" cy="7723"/>
      </dsp:txXfrm>
    </dsp:sp>
    <dsp:sp modelId="{89124C6A-FDA1-45D9-AB50-D12787D3CEA7}">
      <dsp:nvSpPr>
        <dsp:cNvPr id="0" name=""/>
        <dsp:cNvSpPr/>
      </dsp:nvSpPr>
      <dsp:spPr>
        <a:xfrm>
          <a:off x="8920" y="8849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Raw Detector Output — Binary pixel data directly produced by the detector and FPGA</a:t>
          </a:r>
        </a:p>
      </dsp:txBody>
      <dsp:txXfrm>
        <a:off x="8920" y="88498"/>
        <a:ext cx="3357903" cy="2014742"/>
      </dsp:txXfrm>
    </dsp:sp>
    <dsp:sp modelId="{338A92CC-134A-4FE5-BE96-5522A6B7D9CE}">
      <dsp:nvSpPr>
        <dsp:cNvPr id="0" name=""/>
        <dsp:cNvSpPr/>
      </dsp:nvSpPr>
      <dsp:spPr>
        <a:xfrm>
          <a:off x="7495245" y="1050149"/>
          <a:ext cx="7417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4171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846796" y="1092007"/>
        <a:ext cx="38615" cy="7723"/>
      </dsp:txXfrm>
    </dsp:sp>
    <dsp:sp modelId="{AAC180C8-DAEF-452D-B147-4583BD5DD6B6}">
      <dsp:nvSpPr>
        <dsp:cNvPr id="0" name=""/>
        <dsp:cNvSpPr/>
      </dsp:nvSpPr>
      <dsp:spPr>
        <a:xfrm>
          <a:off x="4139141" y="8849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Task 1 </a:t>
          </a:r>
          <a:r>
            <a:rPr lang="en-US" sz="2000" kern="1200" dirty="0"/>
            <a:t>— Understand Raw Image Structure (file format, header, ADU values, 2D image layout)</a:t>
          </a:r>
          <a:endParaRPr lang="en-US" sz="2200" kern="1200" dirty="0"/>
        </a:p>
      </dsp:txBody>
      <dsp:txXfrm>
        <a:off x="4139141" y="88498"/>
        <a:ext cx="3357903" cy="2014742"/>
      </dsp:txXfrm>
    </dsp:sp>
    <dsp:sp modelId="{090DEFC1-7752-4D43-B5C2-BA929912AF7E}">
      <dsp:nvSpPr>
        <dsp:cNvPr id="0" name=""/>
        <dsp:cNvSpPr/>
      </dsp:nvSpPr>
      <dsp:spPr>
        <a:xfrm>
          <a:off x="1687872" y="2101440"/>
          <a:ext cx="8260442" cy="741717"/>
        </a:xfrm>
        <a:custGeom>
          <a:avLst/>
          <a:gdLst/>
          <a:ahLst/>
          <a:cxnLst/>
          <a:rect l="0" t="0" r="0" b="0"/>
          <a:pathLst>
            <a:path>
              <a:moveTo>
                <a:pt x="8260442" y="0"/>
              </a:moveTo>
              <a:lnTo>
                <a:pt x="8260442" y="387958"/>
              </a:lnTo>
              <a:lnTo>
                <a:pt x="0" y="387958"/>
              </a:lnTo>
              <a:lnTo>
                <a:pt x="0" y="74171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610681" y="2468437"/>
        <a:ext cx="414823" cy="7723"/>
      </dsp:txXfrm>
    </dsp:sp>
    <dsp:sp modelId="{1E6E8246-4866-431C-BB1E-6C0AADE7B823}">
      <dsp:nvSpPr>
        <dsp:cNvPr id="0" name=""/>
        <dsp:cNvSpPr/>
      </dsp:nvSpPr>
      <dsp:spPr>
        <a:xfrm>
          <a:off x="8269363" y="8849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Task 2</a:t>
          </a:r>
          <a:r>
            <a:rPr lang="en-US" sz="2000" kern="1200" dirty="0"/>
            <a:t> — Validate Pixel Access (confirm correct row–column indexing and pixel values)</a:t>
          </a:r>
          <a:endParaRPr lang="en-US" sz="2200" kern="1200" dirty="0"/>
        </a:p>
      </dsp:txBody>
      <dsp:txXfrm>
        <a:off x="8269363" y="88498"/>
        <a:ext cx="3357903" cy="2014742"/>
      </dsp:txXfrm>
    </dsp:sp>
    <dsp:sp modelId="{261EB5B4-5FB3-4D4C-8BD0-011CB80F53EA}">
      <dsp:nvSpPr>
        <dsp:cNvPr id="0" name=""/>
        <dsp:cNvSpPr/>
      </dsp:nvSpPr>
      <dsp:spPr>
        <a:xfrm>
          <a:off x="3365023" y="3837209"/>
          <a:ext cx="7417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4171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16574" y="3879067"/>
        <a:ext cx="38615" cy="7723"/>
      </dsp:txXfrm>
    </dsp:sp>
    <dsp:sp modelId="{5BE8CA10-F1E3-4A1A-9522-ABE0671F6C14}">
      <dsp:nvSpPr>
        <dsp:cNvPr id="0" name=""/>
        <dsp:cNvSpPr/>
      </dsp:nvSpPr>
      <dsp:spPr>
        <a:xfrm>
          <a:off x="8920" y="287555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Task 3</a:t>
          </a:r>
          <a:r>
            <a:rPr lang="en-US" sz="2000" kern="1200" dirty="0"/>
            <a:t> — Correct Time-Dependent Offset (model and normalize pixel values vs integration time)</a:t>
          </a:r>
          <a:endParaRPr lang="en-US" sz="2200" kern="1200" dirty="0"/>
        </a:p>
      </dsp:txBody>
      <dsp:txXfrm>
        <a:off x="8920" y="2875558"/>
        <a:ext cx="3357903" cy="2014742"/>
      </dsp:txXfrm>
    </dsp:sp>
    <dsp:sp modelId="{994C6A0F-A97F-4EC6-ABFE-9B0E74E22A3C}">
      <dsp:nvSpPr>
        <dsp:cNvPr id="0" name=""/>
        <dsp:cNvSpPr/>
      </dsp:nvSpPr>
      <dsp:spPr>
        <a:xfrm>
          <a:off x="7495245" y="3837209"/>
          <a:ext cx="7417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4171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846796" y="3879067"/>
        <a:ext cx="38615" cy="7723"/>
      </dsp:txXfrm>
    </dsp:sp>
    <dsp:sp modelId="{3DC81378-7529-46BA-9E72-FD723EAE0FCC}">
      <dsp:nvSpPr>
        <dsp:cNvPr id="0" name=""/>
        <dsp:cNvSpPr/>
      </dsp:nvSpPr>
      <dsp:spPr>
        <a:xfrm>
          <a:off x="4139141" y="287555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Task 4</a:t>
          </a:r>
          <a:r>
            <a:rPr lang="en-US" sz="2000" kern="1200" dirty="0"/>
            <a:t> — Correct Row-Dependent Offset (apply region-wise correction for spatial non-uniformity)</a:t>
          </a:r>
          <a:endParaRPr lang="en-US" sz="2200" kern="1200" dirty="0"/>
        </a:p>
      </dsp:txBody>
      <dsp:txXfrm>
        <a:off x="4139141" y="2875558"/>
        <a:ext cx="3357903" cy="2014742"/>
      </dsp:txXfrm>
    </dsp:sp>
    <dsp:sp modelId="{47DB02D2-8EDE-4B52-8892-73FA7797F772}">
      <dsp:nvSpPr>
        <dsp:cNvPr id="0" name=""/>
        <dsp:cNvSpPr/>
      </dsp:nvSpPr>
      <dsp:spPr>
        <a:xfrm>
          <a:off x="8269363" y="2875558"/>
          <a:ext cx="3357903" cy="20147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4540" tIns="172714" rIns="164540" bIns="172714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Final Calibrated Image — Offset-corrected, spatially consistent detector image ready for use</a:t>
          </a:r>
          <a:endParaRPr lang="en-US" sz="2200" kern="1200" dirty="0"/>
        </a:p>
      </dsp:txBody>
      <dsp:txXfrm>
        <a:off x="8269363" y="2875558"/>
        <a:ext cx="3357903" cy="2014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41360E-BC07-49F4-8466-79C40331A1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4CE32-CB4D-4622-B405-EF00DD331E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1E92B-562F-406C-9BE6-A51A48E27E68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57B87-9566-41A9-B55B-E164123893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7A073-ED89-49CF-BE57-FB1617513A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5BFC9-5AC5-4A6C-9356-2273A923F1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882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8F7ED-F238-46A8-9D38-BAADECF1DBE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514D6-1E8F-4151-A9F0-31911DB6F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9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27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94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43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02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39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61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16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56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280C5-D177-EFF1-09D2-5B881108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2347-E85B-07FD-08DC-D3FB21FFF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904CA-237C-49F4-E2C5-858F183D4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FA3D1-5331-A577-44E8-047692A44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89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5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28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975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64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17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3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394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44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6C0C-0225-4ABD-6ED2-2DB83976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8294A-F7EA-E21C-B8D5-5EE652EF3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6AB68-CDA1-83D2-46B3-0F12E38D9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921A4-F1D7-1822-B6D0-36183C6A4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59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14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389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32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22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9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D3F6-0E23-3910-6C7E-75E26A1C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30C295-1089-45DB-BF7C-728CB533B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67987-D176-7461-C3C8-0B6A6AD03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CAB18-8363-DD7E-0942-0795A8497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187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50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D514D6-1E8F-4151-A9F0-31911DB6F28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6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ex 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A7872581-9E6A-4FEC-96C3-9218CD9A9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7358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A7872581-9E6A-4FEC-96C3-9218CD9A9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403499-BDEE-44B7-977B-4FCE4B877E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6233" y="4535057"/>
            <a:ext cx="6224026" cy="480131"/>
          </a:xfrm>
        </p:spPr>
        <p:txBody>
          <a:bodyPr vert="horz" anchor="t"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8606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arex Blank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B693F831-92A6-4BC9-AF49-0854077813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103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B693F831-92A6-4BC9-AF49-085407781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6F8FD77-EC77-4A16-88DF-637A2707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C185D-0AFC-489C-85AA-40056D7BF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A11AA34-7588-4544-A5F9-77B63DD858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631EF-2D69-47B0-8AB1-ED7EA4743FB0}" type="datetime1">
              <a:rPr lang="en-US" smtClean="0"/>
              <a:t>1/27/2026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7682E0C-2B28-467E-A687-19036E141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70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arex Blank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39445DE3-BE05-49A9-A314-D28B9CD989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9653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39445DE3-BE05-49A9-A314-D28B9CD989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74C8F6-D2F4-46B7-B7C4-CFFF30D3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FB7D-0E01-44F8-9BA9-EB85D2084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5" y="1257300"/>
            <a:ext cx="5670175" cy="491966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A5505-E125-4BF0-8D61-EEF3717CB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7300"/>
            <a:ext cx="5829300" cy="4919663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0FC97CA5-89D9-4A4B-8B13-BBF65EA0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DF7CA-6A95-4924-B69D-36F64DB55749}" type="datetime1">
              <a:rPr lang="en-US" smtClean="0"/>
              <a:t>1/27/2026</a:t>
            </a:fld>
            <a:endParaRPr lang="en-US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422343FF-6E86-4DA1-AFB9-16D8635B7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7F59BD04-705F-47D4-BB27-5F2B71097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arex Blank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74EB59EA-654D-4C80-BC79-2F039412176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853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74EB59EA-654D-4C80-BC79-2F0394121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1B0912-BC04-44AE-B515-AA2391B8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777875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DDA6E-55DA-47F4-ACEE-AB19D7A2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6" y="1263444"/>
            <a:ext cx="5647950" cy="556391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F9E50-90DF-48AF-8D78-F715E2D73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6" y="1940279"/>
            <a:ext cx="5647950" cy="424938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3E9C1-517D-4688-A43D-0A13CAABD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63444"/>
            <a:ext cx="5829300" cy="556391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0C2D7-C754-4A53-849C-17A23DF76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40279"/>
            <a:ext cx="5829300" cy="424938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8">
            <a:extLst>
              <a:ext uri="{FF2B5EF4-FFF2-40B4-BE49-F238E27FC236}">
                <a16:creationId xmlns:a16="http://schemas.microsoft.com/office/drawing/2014/main" id="{80DCD0EA-C518-4D27-91FF-6FEFFB35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6AC8-1865-4B9E-8B4B-3E2BA1B69A24}" type="datetime1">
              <a:rPr lang="en-US" smtClean="0"/>
              <a:t>1/27/2026</a:t>
            </a:fld>
            <a:endParaRPr lang="en-US"/>
          </a:p>
        </p:txBody>
      </p:sp>
      <p:sp>
        <p:nvSpPr>
          <p:cNvPr id="14" name="Slide Number Placeholder 10">
            <a:extLst>
              <a:ext uri="{FF2B5EF4-FFF2-40B4-BE49-F238E27FC236}">
                <a16:creationId xmlns:a16="http://schemas.microsoft.com/office/drawing/2014/main" id="{D19E3388-923F-4C47-81D3-FE3E20018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0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rex Blank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E5D6DA8-8535-4563-90A9-EC212A4CF4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0323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E5D6DA8-8535-4563-90A9-EC212A4CF4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E5FF667-24FF-4CD8-95F1-C5B3E43D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8">
            <a:extLst>
              <a:ext uri="{FF2B5EF4-FFF2-40B4-BE49-F238E27FC236}">
                <a16:creationId xmlns:a16="http://schemas.microsoft.com/office/drawing/2014/main" id="{0ABF97C7-56A4-4C9D-ACF4-489307A57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9A090-371A-4CBD-8B61-80AEBD6A78F0}" type="datetime1">
              <a:rPr lang="en-US" smtClean="0"/>
              <a:t>1/27/2026</a:t>
            </a:fld>
            <a:endParaRPr lang="en-US"/>
          </a:p>
        </p:txBody>
      </p:sp>
      <p:sp>
        <p:nvSpPr>
          <p:cNvPr id="10" name="Slide Number Placeholder 10">
            <a:extLst>
              <a:ext uri="{FF2B5EF4-FFF2-40B4-BE49-F238E27FC236}">
                <a16:creationId xmlns:a16="http://schemas.microsoft.com/office/drawing/2014/main" id="{47E8F468-0793-4F5C-934F-E09364BBD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2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rex Blank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8">
            <a:extLst>
              <a:ext uri="{FF2B5EF4-FFF2-40B4-BE49-F238E27FC236}">
                <a16:creationId xmlns:a16="http://schemas.microsoft.com/office/drawing/2014/main" id="{31344AEB-CFA1-48F4-A5D5-4BC191D98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26FF-1BB9-4033-880A-2EA33F377B7B}" type="datetime1">
              <a:rPr lang="en-US" smtClean="0"/>
              <a:t>1/27/2026</a:t>
            </a:fld>
            <a:endParaRPr lang="en-US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4C2268E5-B486-411C-9778-AB6B6F99F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52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1B85DF0B-C900-4258-BC49-1C62C0FBB6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0812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1B85DF0B-C900-4258-BC49-1C62C0FBB6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7630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.x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Layout" Target="../slideLayouts/slideLayout4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33D1259-1EE4-4CA3-844A-089BEC0BC0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696065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33D1259-1EE4-4CA3-844A-089BEC0BC0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6EB8F-DB99-4DDD-9782-F4405C8C0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327A2EAE-9F20-4522-B6F7-84FB770FB44B}" type="datetime1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0A318-3EAD-48D8-A11D-22FF26D0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5E85-A5C3-4D0A-A30C-2B04F4329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4F4C0E9D-38DF-4483-A5AA-6ADC5768067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1767E2-4AEA-40BE-8AF8-C8B42514C4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736278" cy="4391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576FEC-C602-4ACF-9651-5E7B812A11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07383" y="732178"/>
            <a:ext cx="6562876" cy="189977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3BFFC-2549-4EDF-9AF4-D140C7CF6F4C}"/>
              </a:ext>
            </a:extLst>
          </p:cNvPr>
          <p:cNvCxnSpPr/>
          <p:nvPr userDrawn="1"/>
        </p:nvCxnSpPr>
        <p:spPr>
          <a:xfrm>
            <a:off x="5646233" y="2709845"/>
            <a:ext cx="6144127" cy="0"/>
          </a:xfrm>
          <a:prstGeom prst="line">
            <a:avLst/>
          </a:prstGeom>
          <a:ln w="38100">
            <a:solidFill>
              <a:srgbClr val="385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845229-A637-4502-A2F8-B39D6238E449}"/>
              </a:ext>
            </a:extLst>
          </p:cNvPr>
          <p:cNvSpPr txBox="1"/>
          <p:nvPr userDrawn="1"/>
        </p:nvSpPr>
        <p:spPr>
          <a:xfrm>
            <a:off x="5545244" y="2814790"/>
            <a:ext cx="6087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85575"/>
                </a:solidFill>
                <a:latin typeface="Century Gothic" panose="020B0502020202020204" pitchFamily="34" charset="0"/>
              </a:rPr>
              <a:t>Making the Invisible Visible™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281462-D8A2-435C-96FC-7E221D75BAED}"/>
              </a:ext>
            </a:extLst>
          </p:cNvPr>
          <p:cNvSpPr/>
          <p:nvPr userDrawn="1"/>
        </p:nvSpPr>
        <p:spPr>
          <a:xfrm>
            <a:off x="0" y="4391024"/>
            <a:ext cx="12191997" cy="2466976"/>
          </a:xfrm>
          <a:prstGeom prst="rect">
            <a:avLst/>
          </a:prstGeom>
          <a:solidFill>
            <a:srgbClr val="385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Century Gothic" panose="020B0502020202020204" pitchFamily="34" charset="0"/>
            </a:endParaRPr>
          </a:p>
        </p:txBody>
      </p:sp>
      <p:pic>
        <p:nvPicPr>
          <p:cNvPr id="13" name="Picture 12" descr="A picture containing logo&#10;&#10;Description automatically generated">
            <a:extLst>
              <a:ext uri="{FF2B5EF4-FFF2-40B4-BE49-F238E27FC236}">
                <a16:creationId xmlns:a16="http://schemas.microsoft.com/office/drawing/2014/main" id="{FC3E06D5-872A-4033-8AC8-FB1D8476C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9776" y="224975"/>
            <a:ext cx="1167338" cy="905774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5E213D3F-C633-41EC-B4AD-EF664BAC8D0F}"/>
              </a:ext>
            </a:extLst>
          </p:cNvPr>
          <p:cNvSpPr txBox="1">
            <a:spLocks/>
          </p:cNvSpPr>
          <p:nvPr userDrawn="1"/>
        </p:nvSpPr>
        <p:spPr>
          <a:xfrm>
            <a:off x="34649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60FC6B0-2617-4348-939E-DA1B6D6AD778}" type="datetime1">
              <a:rPr lang="en-US" sz="1000" smtClean="0">
                <a:latin typeface="Century Gothic" panose="020B0502020202020204" pitchFamily="34" charset="0"/>
              </a:rPr>
              <a:pPr/>
              <a:t>1/27/2026</a:t>
            </a:fld>
            <a:endParaRPr lang="en-US" sz="1000" dirty="0">
              <a:latin typeface="Century Gothic" panose="020B0502020202020204" pitchFamily="34" charset="0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9262082-F546-49ED-B1B8-21FF1FD984AC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entury Gothic" panose="020B0502020202020204" pitchFamily="34" charset="0"/>
              </a:rPr>
              <a:t>Internal Use Only – Varex Proprietary and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855BAE0-631C-40A6-A5F9-A114FCC34AA1}"/>
              </a:ext>
            </a:extLst>
          </p:cNvPr>
          <p:cNvSpPr txBox="1">
            <a:spLocks/>
          </p:cNvSpPr>
          <p:nvPr userDrawn="1"/>
        </p:nvSpPr>
        <p:spPr>
          <a:xfrm>
            <a:off x="9102305" y="6356350"/>
            <a:ext cx="2922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EEFB4FC-B44B-4051-B6D7-8F49EC5ACA1C}" type="slidenum">
              <a:rPr lang="en-US" sz="1000" smtClean="0">
                <a:latin typeface="Century Gothic" panose="020B0502020202020204" pitchFamily="34" charset="0"/>
              </a:rPr>
              <a:pPr/>
              <a:t>‹#›</a:t>
            </a:fld>
            <a:endParaRPr lang="en-US" sz="1000">
              <a:latin typeface="Century Gothic" panose="020B0502020202020204" pitchFamily="34" charset="0"/>
            </a:endParaRPr>
          </a:p>
        </p:txBody>
      </p:sp>
      <p:sp>
        <p:nvSpPr>
          <p:cNvPr id="17" name="Title Placeholder 16">
            <a:extLst>
              <a:ext uri="{FF2B5EF4-FFF2-40B4-BE49-F238E27FC236}">
                <a16:creationId xmlns:a16="http://schemas.microsoft.com/office/drawing/2014/main" id="{28244214-2E7B-442D-BB3C-5BD911303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233" y="4535057"/>
            <a:ext cx="6224026" cy="4801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5590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C9388593-271F-4D58-BD5D-1870776C38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1529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C9388593-271F-4D58-BD5D-1870776C38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C2A16-A499-41D5-A99A-1F749227E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DA931-1E3C-4E40-89FF-A5A947D6E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5" y="1270900"/>
            <a:ext cx="11636187" cy="497879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  <p:pic>
        <p:nvPicPr>
          <p:cNvPr id="18" name="Picture 17" descr="A picture containing logo&#10;&#10;Description automatically generated">
            <a:extLst>
              <a:ext uri="{FF2B5EF4-FFF2-40B4-BE49-F238E27FC236}">
                <a16:creationId xmlns:a16="http://schemas.microsoft.com/office/drawing/2014/main" id="{3858C9AD-53CB-4D4D-B5EE-0488BC3C2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29776" y="224975"/>
            <a:ext cx="1167338" cy="905774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AEE6B06-0C20-45D8-B414-40B1333EC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F6CA1-56F3-4832-B8F7-B9B63D2ED2B0}" type="datetime1">
              <a:rPr lang="en-US" smtClean="0"/>
              <a:t>1/27/2026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0189F6-DC88-4973-9031-14E31CB52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0C7E3-F9DA-4B73-B719-A02CA0A1E0F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D1C3766-751B-74A4-C3F5-23629080E12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entury Gothic" panose="020B0502020202020204" pitchFamily="34" charset="0"/>
              </a:rPr>
              <a:t>Internal Use Only – Varex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4401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9" r:id="rId2"/>
    <p:sldLayoutId id="2147483800" r:id="rId3"/>
    <p:sldLayoutId id="2147483801" r:id="rId4"/>
    <p:sldLayoutId id="2147483802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6ECC029D-9844-4CC9-B4F8-5768B9D8C0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214961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6ECC029D-9844-4CC9-B4F8-5768B9D8C0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2D3BDE5-1A3E-4417-9954-B43508069A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7450733" cy="6858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98E972-89F7-4969-A33D-43DF0F898F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7341" y="3210121"/>
            <a:ext cx="7586436" cy="219606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2A133DF-CF52-4732-BD09-3C9A297EB26D}"/>
              </a:ext>
            </a:extLst>
          </p:cNvPr>
          <p:cNvCxnSpPr>
            <a:cxnSpLocks/>
          </p:cNvCxnSpPr>
          <p:nvPr userDrawn="1"/>
        </p:nvCxnSpPr>
        <p:spPr>
          <a:xfrm>
            <a:off x="5810009" y="5406189"/>
            <a:ext cx="6144127" cy="0"/>
          </a:xfrm>
          <a:prstGeom prst="line">
            <a:avLst/>
          </a:prstGeom>
          <a:ln w="38100">
            <a:solidFill>
              <a:srgbClr val="385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719055-2CF7-4D2F-B6DD-F556452DF6E8}"/>
              </a:ext>
            </a:extLst>
          </p:cNvPr>
          <p:cNvSpPr txBox="1"/>
          <p:nvPr userDrawn="1"/>
        </p:nvSpPr>
        <p:spPr>
          <a:xfrm>
            <a:off x="5866982" y="5646656"/>
            <a:ext cx="6087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385575"/>
                </a:solidFill>
                <a:latin typeface="Century Gothic" panose="020B0502020202020204" pitchFamily="34" charset="0"/>
              </a:rPr>
              <a:t>Making the Invisible Visible™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11C71A6-521B-178F-AF98-D5428BED6064}"/>
              </a:ext>
            </a:extLst>
          </p:cNvPr>
          <p:cNvSpPr txBox="1">
            <a:spLocks/>
          </p:cNvSpPr>
          <p:nvPr userDrawn="1"/>
        </p:nvSpPr>
        <p:spPr>
          <a:xfrm>
            <a:off x="7249632" y="63621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entury Gothic" panose="020B0502020202020204" pitchFamily="34" charset="0"/>
              </a:rPr>
              <a:t>Internal Use Only – Varex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608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BBAF6-D4E3-B5F9-73C1-00A505C2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42" y="5062653"/>
            <a:ext cx="7623091" cy="923330"/>
          </a:xfrm>
        </p:spPr>
        <p:txBody>
          <a:bodyPr/>
          <a:lstStyle/>
          <a:p>
            <a:r>
              <a:rPr lang="en-US" sz="3200" dirty="0"/>
              <a:t>Mini project</a:t>
            </a:r>
            <a:br>
              <a:rPr lang="en-US" dirty="0"/>
            </a:br>
            <a:r>
              <a:rPr lang="en-US" dirty="0"/>
              <a:t>-SAREPAKA SURYA SAHITHI</a:t>
            </a:r>
          </a:p>
        </p:txBody>
      </p:sp>
    </p:spTree>
    <p:extLst>
      <p:ext uri="{BB962C8B-B14F-4D97-AF65-F5344CB8AC3E}">
        <p14:creationId xmlns:p14="http://schemas.microsoft.com/office/powerpoint/2010/main" val="61766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4013-E946-2CC1-A76D-BED618CC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FCF9-38EF-B416-9912-C7D78A00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978729"/>
          </a:xfrm>
        </p:spPr>
        <p:txBody>
          <a:bodyPr/>
          <a:lstStyle/>
          <a:p>
            <a:r>
              <a:rPr lang="en-US" sz="3200" b="1" dirty="0"/>
              <a:t>TASK 1 — Understanding &amp; Opening Raw Detector Image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F663E-FE42-4F69-7CF9-D419209C8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5" y="1318660"/>
            <a:ext cx="11518324" cy="4643322"/>
          </a:xfrm>
        </p:spPr>
        <p:txBody>
          <a:bodyPr/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Why Understand Raw Detector Image Files?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Detector hardware (FPGA + sensors) </a:t>
            </a:r>
            <a:r>
              <a:rPr lang="en-US" sz="2000" b="1" dirty="0"/>
              <a:t>does not produce JPG/PNG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It produces </a:t>
            </a:r>
            <a:r>
              <a:rPr lang="en-US" sz="2000" b="1" dirty="0"/>
              <a:t>raw numeric data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Engineers must understand </a:t>
            </a:r>
            <a:r>
              <a:rPr lang="en-US" sz="2000" b="1" dirty="0"/>
              <a:t>exact memory layout</a:t>
            </a:r>
            <a:r>
              <a:rPr lang="en-US" sz="2000" dirty="0"/>
              <a:t> before processing</a:t>
            </a:r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Why this matters?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Wrong interpretation → wrong image → wrong conclusions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FPGA pipelines rely on </a:t>
            </a:r>
            <a:r>
              <a:rPr lang="en-US" sz="2000" b="1" dirty="0"/>
              <a:t>precise data formats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task builds the </a:t>
            </a:r>
            <a:r>
              <a:rPr lang="en-US" sz="2000" b="1" dirty="0"/>
              <a:t>foundation</a:t>
            </a:r>
            <a:r>
              <a:rPr lang="en-US" sz="2000" dirty="0"/>
              <a:t> for all further image processing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DB08A-0679-809E-5AB4-50A9DC058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V="1">
            <a:off x="6172200" y="8393863"/>
            <a:ext cx="58293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425F7-E307-D68F-0B60-59A10137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F7CA-6A95-4924-B69D-36F64DB55749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C00A-40E4-F1C6-AC58-FDDCA9F69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BB77B-7117-5208-E3F7-AB274D4D3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0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B88A4-3BC5-4F95-D857-81F1EE21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A4BF0-E09A-A3BF-6E88-A77E95356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5" y="385011"/>
            <a:ext cx="10883057" cy="5103961"/>
          </a:xfrm>
        </p:spPr>
        <p:txBody>
          <a:bodyPr/>
          <a:lstStyle/>
          <a:p>
            <a:pPr>
              <a:buNone/>
            </a:pPr>
            <a:r>
              <a:rPr lang="en-US" sz="2800" b="1" dirty="0"/>
              <a:t>What is a Raw Binary Image?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raw image is a </a:t>
            </a:r>
            <a:r>
              <a:rPr lang="en-US" sz="2000" b="1" dirty="0"/>
              <a:t>binary file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Contains </a:t>
            </a:r>
            <a:r>
              <a:rPr lang="en-US" sz="2000" b="1" dirty="0"/>
              <a:t>only numbers                                                 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compression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color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image headers like JPG/PNG</a:t>
            </a:r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r>
              <a:rPr lang="en-US" sz="2800" b="1" dirty="0"/>
              <a:t>IN OUR CASE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Image type: </a:t>
            </a:r>
            <a:r>
              <a:rPr lang="en-US" sz="2000" b="1" dirty="0"/>
              <a:t>16-bit grayscale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Pixel range: </a:t>
            </a:r>
            <a:r>
              <a:rPr lang="en-US" sz="2000" b="1" dirty="0"/>
              <a:t>0 – 65535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pixel = </a:t>
            </a:r>
            <a:r>
              <a:rPr lang="en-US" sz="2000" b="1" dirty="0"/>
              <a:t>one number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D2D3C-8DE8-BCB6-7509-BE3F17DE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F7CA-6A95-4924-B69D-36F64DB55749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D1506-5E75-95C4-8154-752E7740C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C2989-B530-885D-D266-92951683E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D2F69B-DBEB-3B77-388A-7532EB49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95" y="1316624"/>
            <a:ext cx="4586305" cy="253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8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ABB3053B-7EF5-D03F-FE64-408DA536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5"/>
            <a:ext cx="10605247" cy="867930"/>
          </a:xfrm>
        </p:spPr>
        <p:txBody>
          <a:bodyPr/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Raw File Structure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</a:b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3FD5C678-4C19-1EEB-9156-3B1D0BB99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5" y="970156"/>
            <a:ext cx="6129233" cy="521950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800" b="1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FILE LAYOUT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| Header | Pixel Data | 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HEADER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Size: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1024 words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1 word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16 bits = 2 bytes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Total header =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2048 bytes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Contains detector configuration &amp; metadata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8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PIXEL DATA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Size: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3520 × 4288 pixels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Data type: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uint16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Century Gothic" panose="020B0502020202020204" pitchFamily="34" charset="0"/>
              </a:rPr>
              <a:t>Stored row-wise in memory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43A753-64D6-B8C3-0B1E-C6B6D5042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76" y="1304308"/>
            <a:ext cx="4473036" cy="4249384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4280B-258B-3E55-57B7-AC938980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AA6B5-D085-2526-92D4-7621025D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7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10BA-2689-125D-321B-BB67C9E13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B477BAA-57CC-3B0C-15EE-AFC92E66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845819"/>
            <a:ext cx="10580151" cy="867930"/>
          </a:xfrm>
        </p:spPr>
        <p:txBody>
          <a:bodyPr/>
          <a:lstStyle/>
          <a:p>
            <a:r>
              <a:rPr lang="en-US" sz="2800" b="1" dirty="0">
                <a:latin typeface="Century Gothic" panose="020B0502020202020204" pitchFamily="34" charset="0"/>
              </a:rPr>
              <a:t>How Raw Data Was Read?</a:t>
            </a:r>
            <a:br>
              <a:rPr lang="en-US" sz="2800" b="1" dirty="0">
                <a:latin typeface="Century Gothic" panose="020B0502020202020204" pitchFamily="34" charset="0"/>
              </a:rPr>
            </a:br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0707049F-DD68-9F8E-B4C0-DEB3387C1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5" y="1257300"/>
            <a:ext cx="5670175" cy="491966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400" b="1" dirty="0">
              <a:latin typeface="Century Gothic" panose="020B0502020202020204" pitchFamily="34" charset="0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Binary file opened in read mode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Header skipped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Pixel data read as uint16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Century Gothic" panose="020B0502020202020204" pitchFamily="34" charset="0"/>
              </a:rPr>
              <a:t>Reshaped into image</a:t>
            </a: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E879BCE-E716-9C90-1D3A-7554765D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700" y="1208818"/>
            <a:ext cx="5829300" cy="4605146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92544-C9BA-BFC4-71BC-22A953E1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2802931A-621E-8B97-E4AA-9E29B54C4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562AE-7E75-F4D0-84A9-0D458B774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39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90A3D-4C29-CFC0-7EC2-B8B284206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97760F5-E725-4A93-6FC5-AE923DBD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480131"/>
          </a:xfrm>
        </p:spPr>
        <p:txBody>
          <a:bodyPr/>
          <a:lstStyle/>
          <a:p>
            <a:r>
              <a:rPr lang="en-US" b="1" dirty="0"/>
              <a:t>Image processing techniques implementation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AF7412E-4A94-473F-D4AD-9D3FAB3E9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504" y="964163"/>
            <a:ext cx="5647950" cy="639961"/>
          </a:xfrm>
        </p:spPr>
        <p:txBody>
          <a:bodyPr/>
          <a:lstStyle/>
          <a:p>
            <a:r>
              <a:rPr lang="en-US" dirty="0"/>
              <a:t>1. Histogram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D7EB1954-2C70-F37B-C4AB-5CF7469C8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6" y="1572323"/>
            <a:ext cx="5647950" cy="3425660"/>
          </a:xfrm>
        </p:spPr>
        <p:txBody>
          <a:bodyPr/>
          <a:lstStyle/>
          <a:p>
            <a:r>
              <a:rPr lang="en-US" sz="2000" dirty="0"/>
              <a:t>Histogram reveals narrow pixel distribution, indicating baseline offset and low contrast in raw detector output.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F9FE4CB-57D5-7819-F354-013D437B4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48215"/>
            <a:ext cx="5829300" cy="741481"/>
          </a:xfrm>
        </p:spPr>
        <p:txBody>
          <a:bodyPr/>
          <a:lstStyle/>
          <a:p>
            <a:r>
              <a:rPr lang="en-US" dirty="0"/>
              <a:t>2.Contrast stretching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25EFA90-1E5E-5ED9-CFC3-E4B2C41C8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6" y="1572323"/>
            <a:ext cx="5954829" cy="47834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Contrast stretching reveals hidden row-wise detector structure</a:t>
            </a: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latin typeface="Century Gothic" panose="020B0502020202020204" pitchFamily="34" charset="0"/>
            </a:endParaRPr>
          </a:p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b="1" dirty="0">
              <a:latin typeface="Century Gothic" panose="020B0502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2E006-A44C-84B5-5970-A897934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DE564-1897-1E16-ED83-180C202D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185E9-7A56-D02F-C187-E0C0853EE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97" y="2962491"/>
            <a:ext cx="5430008" cy="21581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E25910-75C7-B2FE-758F-CF820BA0E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024" y="2313804"/>
            <a:ext cx="5462350" cy="404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3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335E-AE34-4501-10A5-35033674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9D049DA-5E48-A7D2-128C-054DA6ABB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6" y="668338"/>
            <a:ext cx="5647950" cy="885371"/>
          </a:xfrm>
        </p:spPr>
        <p:txBody>
          <a:bodyPr/>
          <a:lstStyle/>
          <a:p>
            <a:r>
              <a:rPr lang="en-US" sz="2400" b="1" dirty="0">
                <a:latin typeface="+mj-lt"/>
                <a:cs typeface="Arial" panose="020B0604020202020204" pitchFamily="34" charset="0"/>
              </a:rPr>
              <a:t>3.ROI (Region of interest)</a:t>
            </a:r>
          </a:p>
          <a:p>
            <a:endParaRPr 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59829EC-E8ED-2FD8-8650-F9707EF1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626" y="1471961"/>
            <a:ext cx="5647950" cy="47177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cs typeface="Arial" panose="020B0604020202020204" pitchFamily="34" charset="0"/>
              </a:rPr>
              <a:t>Region of Interest (ROI) isolates a localized detector area to analyze spatial variations and noise characteristics.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dirty="0">
              <a:latin typeface="Century Gothic" panose="020B0502020202020204" pitchFamily="34" charset="0"/>
            </a:endParaRPr>
          </a:p>
          <a:p>
            <a:pPr marL="228600" marR="0" lvl="0" indent="-2286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Century Gothic" panose="020B0502020202020204" pitchFamily="34" charset="0"/>
            </a:endParaRP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E06FDDA-DC5B-A1F2-2814-08C5D2328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668338"/>
            <a:ext cx="5829300" cy="885371"/>
          </a:xfrm>
        </p:spPr>
        <p:txBody>
          <a:bodyPr/>
          <a:lstStyle/>
          <a:p>
            <a:r>
              <a:rPr lang="en-US" altLang="en-US" sz="2400" b="1" dirty="0">
                <a:latin typeface="+mj-lt"/>
                <a:cs typeface="Arial" panose="020B0604020202020204" pitchFamily="34" charset="0"/>
              </a:rPr>
              <a:t>4. Mean subtraction</a:t>
            </a:r>
          </a:p>
          <a:p>
            <a:endParaRPr lang="en-US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9D7885D1-EF20-5C65-588A-EE5C70043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71961"/>
            <a:ext cx="5829300" cy="155016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sz="2400" dirty="0">
                <a:latin typeface="Century Gothic "/>
                <a:cs typeface="Arial" panose="020B0604020202020204" pitchFamily="34" charset="0"/>
              </a:rPr>
              <a:t>Mean subtraction removes baseline offset and highlights pixel-level deviations.</a:t>
            </a:r>
            <a:endParaRPr lang="en-US" altLang="en-US" sz="2400" b="1" dirty="0">
              <a:latin typeface="Century Gothic 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FE7CD-8757-7F02-6BF6-6DA76684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B921F-3DE7-5DAA-E735-69A4B05E1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D2FE90-3CD7-7F10-FFC9-882A6A587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51" y="3147352"/>
            <a:ext cx="5020376" cy="22386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BE618E-F82B-8A08-212A-4C1D31985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015" y="3147352"/>
            <a:ext cx="4925112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1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282A-D675-AABC-032D-69E94FF3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Century Gothic(Headings)"/>
              </a:rPr>
              <a:t>Key learnings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22516-EF13-72B0-81EC-B908859F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37" name="Footer Placeholder 5">
            <a:extLst>
              <a:ext uri="{FF2B5EF4-FFF2-40B4-BE49-F238E27FC236}">
                <a16:creationId xmlns:a16="http://schemas.microsoft.com/office/drawing/2014/main" id="{0D9F838B-B5FF-EF44-6E60-D6E2D8C0E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D129E3-BB69-B6BB-4BF3-F53DCA928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BA81A3EF-AF75-A202-AD63-8C44BF85B0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44441493"/>
              </p:ext>
            </p:extLst>
          </p:nvPr>
        </p:nvGraphicFramePr>
        <p:xfrm>
          <a:off x="349624" y="1140972"/>
          <a:ext cx="10455907" cy="491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815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B964D12-B945-8D5E-9515-23382982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923330"/>
          </a:xfrm>
        </p:spPr>
        <p:txBody>
          <a:bodyPr/>
          <a:lstStyle/>
          <a:p>
            <a:r>
              <a:rPr lang="en-US" sz="3200" b="1" dirty="0"/>
              <a:t>TASK 2 — Pixel-Level Access &amp; Verification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21DA4-0578-9975-72CD-8AD69C0E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8A27-64CA-F67A-AAF7-959EFBD9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32BC174-011A-9525-8355-97595E5F3E5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8989" y="284931"/>
            <a:ext cx="11374023" cy="742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+mj-lt"/>
              </a:rPr>
              <a:t>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latin typeface="+mj-lt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/>
              <a:t>What is the task?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 the raw detector image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Skip the 1024-word image header.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the pixel value at a specified row and column.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Print the pixel’s ADU (Analog-to-Digital Unit)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Visually verify the selected pixel on the image.</a:t>
            </a:r>
          </a:p>
          <a:p>
            <a:pPr marL="0" indent="0">
              <a:buNone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+mj-lt"/>
              </a:rPr>
              <a:t>Why is the task given?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Detector debugging requires checking individual pixel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Engineers must validate: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detector 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firmware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  <a:cs typeface="Arial" panose="020B0604020202020204" pitchFamily="34" charset="0"/>
              </a:rPr>
              <a:t>calibration correctness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+mj-lt"/>
                <a:cs typeface="Arial" panose="020B0604020202020204" pitchFamily="34" charset="0"/>
              </a:rPr>
              <a:t> 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87725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081DC-3510-8BEE-F2E5-19EB5BB5C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6" y="668337"/>
            <a:ext cx="8114150" cy="480131"/>
          </a:xfrm>
        </p:spPr>
        <p:txBody>
          <a:bodyPr/>
          <a:lstStyle/>
          <a:p>
            <a:r>
              <a:rPr lang="en-US" sz="2800" dirty="0"/>
              <a:t>How are Pixel Values Retrieved?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474BF9-7301-2E71-D19F-9619D174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6AC8-1865-4B9E-8B4B-3E2BA1B69A24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CA6127-AB61-6580-3066-A0E0E3F7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10</a:t>
            </a:fld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FA7A54B-6956-3467-5DC8-F803FAEAFAF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9625" y="1527152"/>
            <a:ext cx="8995097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 raw image data into a 2D array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Accept row and column as user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Access pixel using: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latin typeface="+mj-lt"/>
              </a:rPr>
              <a:t>                         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image[row, column]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 the corresponding ADU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Mark the pixel location on the image for visual confirmation</a:t>
            </a:r>
          </a:p>
        </p:txBody>
      </p:sp>
    </p:spTree>
    <p:extLst>
      <p:ext uri="{BB962C8B-B14F-4D97-AF65-F5344CB8AC3E}">
        <p14:creationId xmlns:p14="http://schemas.microsoft.com/office/powerpoint/2010/main" val="1909083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588CE-C3C5-3CAE-3661-B802742DD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6" y="557562"/>
            <a:ext cx="5647950" cy="70252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Century Gothic(Headings)"/>
              </a:rPr>
              <a:t>Code to display: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2D55EC-C6F0-FFE5-0462-4667E3E41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1" y="1438508"/>
            <a:ext cx="5905500" cy="3099482"/>
          </a:xfrm>
          <a:prstGeom prst="rect">
            <a:avLst/>
          </a:prstGeom>
          <a:noFill/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EA433D1-361D-7F2D-A99B-A299E2AA29D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63417" y="1466387"/>
            <a:ext cx="5568858" cy="3099481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30571-7611-8D04-FE21-DB42A402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9CA039-6994-5683-821A-10FB1A9C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25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E98F4-C694-76B3-AF7F-BFFE5EF4C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522" y="349044"/>
            <a:ext cx="5647950" cy="480131"/>
          </a:xfrm>
        </p:spPr>
        <p:txBody>
          <a:bodyPr/>
          <a:lstStyle/>
          <a:p>
            <a:r>
              <a:rPr lang="en-US" sz="2800" dirty="0"/>
              <a:t>Outputs: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42F67ED-C106-24EA-AD2B-17FFBBA9FB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48325" y="2071936"/>
            <a:ext cx="6101685" cy="2009410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12FCF-374A-521F-7CC7-D3B3566E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6AC8-1865-4B9E-8B4B-3E2BA1B69A24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E09372-D001-BB41-3DA8-75731464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12</a:t>
            </a:fld>
            <a:endParaRPr lang="en-US"/>
          </a:p>
        </p:txBody>
      </p:sp>
      <p:pic>
        <p:nvPicPr>
          <p:cNvPr id="17" name="Content Placeholder 16" descr="A black square with red dots&#10;&#10;AI-generated content may be incorrect.">
            <a:extLst>
              <a:ext uri="{FF2B5EF4-FFF2-40B4-BE49-F238E27FC236}">
                <a16:creationId xmlns:a16="http://schemas.microsoft.com/office/drawing/2014/main" id="{A5A56D90-5313-2453-53B8-632D145F84A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9175"/>
            <a:ext cx="5648325" cy="5169824"/>
          </a:xfrm>
        </p:spPr>
      </p:pic>
    </p:spTree>
    <p:extLst>
      <p:ext uri="{BB962C8B-B14F-4D97-AF65-F5344CB8AC3E}">
        <p14:creationId xmlns:p14="http://schemas.microsoft.com/office/powerpoint/2010/main" val="2156626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0C107-2E74-A3BB-47E8-684BB161D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07BB-B047-75AE-FF00-D342D1A9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Century Gothic(Headings)"/>
              </a:rPr>
              <a:t>Key learnings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F399F-9807-16FD-4D0E-60D0BE0D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37" name="Footer Placeholder 5">
            <a:extLst>
              <a:ext uri="{FF2B5EF4-FFF2-40B4-BE49-F238E27FC236}">
                <a16:creationId xmlns:a16="http://schemas.microsoft.com/office/drawing/2014/main" id="{DE338801-1ED1-B34E-79B1-BB54954D3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F542AB-316C-ACC9-6B58-72C5AAF05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32D0665B-15F6-253D-9EB2-9B33B527ED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8744315"/>
              </p:ext>
            </p:extLst>
          </p:nvPr>
        </p:nvGraphicFramePr>
        <p:xfrm>
          <a:off x="411746" y="1140972"/>
          <a:ext cx="10455907" cy="4919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693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A00F-6420-C086-2F1B-8993B1D25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1643527"/>
          </a:xfrm>
        </p:spPr>
        <p:txBody>
          <a:bodyPr/>
          <a:lstStyle/>
          <a:p>
            <a:r>
              <a:rPr lang="en-US" b="1" dirty="0">
                <a:latin typeface="Century Gothic(Headings)"/>
              </a:rPr>
              <a:t>TASK 3 — Offset Characterization &amp; Normalization Across Integration Time</a:t>
            </a:r>
            <a:br>
              <a:rPr lang="en-US" b="1" dirty="0">
                <a:latin typeface="Century Gothic(Headings)"/>
              </a:rPr>
            </a:br>
            <a:br>
              <a:rPr lang="en-US" b="1" dirty="0">
                <a:latin typeface="Century Gothic(Headings)"/>
              </a:rPr>
            </a:br>
            <a:endParaRPr lang="en-US" b="1" dirty="0">
              <a:latin typeface="Century Gothic(Headings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E32FE-F527-B4F9-88DB-9214DBBF8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626" y="1405054"/>
            <a:ext cx="10277486" cy="480131"/>
          </a:xfrm>
        </p:spPr>
        <p:txBody>
          <a:bodyPr/>
          <a:lstStyle/>
          <a:p>
            <a:r>
              <a:rPr lang="en-US" sz="2800" dirty="0"/>
              <a:t>Significance of Offset Characterization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37E0A-300F-D5DA-6C6F-146F53E4A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5" y="2185639"/>
            <a:ext cx="12095135" cy="377744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Why this task?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Detector electronics introduce </a:t>
            </a:r>
            <a:r>
              <a:rPr lang="en-US" sz="2000" b="1" dirty="0"/>
              <a:t>offset and noise</a:t>
            </a:r>
            <a:r>
              <a:rPr lang="en-US" sz="2000" dirty="0"/>
              <a:t> even without X-ray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varies with </a:t>
            </a:r>
            <a:r>
              <a:rPr lang="en-US" sz="2000" b="1" dirty="0"/>
              <a:t>integration time</a:t>
            </a:r>
            <a:r>
              <a:rPr lang="en-US" sz="2000" dirty="0"/>
              <a:t> due to electronic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Accurate imaging requires </a:t>
            </a:r>
            <a:r>
              <a:rPr lang="en-US" sz="2000" b="1" dirty="0"/>
              <a:t>understanding and correcting</a:t>
            </a:r>
            <a:r>
              <a:rPr lang="en-US" sz="2000" dirty="0"/>
              <a:t> this offset</a:t>
            </a:r>
          </a:p>
          <a:p>
            <a:pPr>
              <a:buNone/>
            </a:pPr>
            <a:r>
              <a:rPr lang="en-US" b="1" dirty="0"/>
              <a:t>Why this matters?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Enables reliable detector calibration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Ensures consistent image quality across different integration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Forms the basis for real-time offset correction in FPGA pipelines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5F283-4273-4B28-3E35-6F851A18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6AC8-1865-4B9E-8B4B-3E2BA1B69A24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38BBB1-889E-1D72-7906-DC1F2B84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82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F0B8A675-3B27-D32F-35A5-EC7C23BC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/>
          <a:lstStyle/>
          <a:p>
            <a:r>
              <a:rPr lang="en-US" b="1" dirty="0"/>
              <a:t>WHAT IS REQUIRED?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85B66-AB21-D182-F507-8956F690A2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6331CC-D9C9-AF36-D812-552FEC084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4A3724-3508-CA55-8D44-B7CB6366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0" y="1271588"/>
            <a:ext cx="11636375" cy="867930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031D5F2F-AD34-6466-3DF2-E01BB35D0B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9249" y="1006248"/>
            <a:ext cx="954188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 detector images acquired at different integration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Calculate the average pixel value for each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 average pixel value vs integration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Fit a polynomial model to characterize offset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 all images using the 500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image as 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Subtract the reference image to remove offset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Compute and plot noise (standard deviation) vs integration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Share processed images and analysis results.</a:t>
            </a:r>
          </a:p>
        </p:txBody>
      </p:sp>
    </p:spTree>
    <p:extLst>
      <p:ext uri="{BB962C8B-B14F-4D97-AF65-F5344CB8AC3E}">
        <p14:creationId xmlns:p14="http://schemas.microsoft.com/office/powerpoint/2010/main" val="1821645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5B8EDCC-79F3-0409-1DC5-56E7B53C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/>
          <a:lstStyle/>
          <a:p>
            <a:r>
              <a:rPr lang="en-US" b="1" dirty="0"/>
              <a:t>Basic definitions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B42C7-52BC-5061-A9E9-3308FE5A1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031E3-C3FD-CCE9-9870-74014A57A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DF23E29-032D-27C0-FBD8-B4A08CA0B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625" y="1316715"/>
            <a:ext cx="1049801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Detector: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Hardware that converts X-rays into digital pixel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Integration Time: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Duration for which the detector collects signal.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Offset: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Unwanted background signal produced by detector electronics.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ADU: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Digital value output by the ADC for each pixel.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Pixel Value: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Mean of all pixel values in an image, used to estimate offset.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Noise: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Random variation in pixel values around the offset.</a:t>
            </a:r>
          </a:p>
        </p:txBody>
      </p:sp>
    </p:spTree>
    <p:extLst>
      <p:ext uri="{BB962C8B-B14F-4D97-AF65-F5344CB8AC3E}">
        <p14:creationId xmlns:p14="http://schemas.microsoft.com/office/powerpoint/2010/main" val="409397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CB5999A-5B01-4FBC-E888-D134EB056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3162" y="546410"/>
            <a:ext cx="8922711" cy="480131"/>
          </a:xfrm>
        </p:spPr>
        <p:txBody>
          <a:bodyPr/>
          <a:lstStyle/>
          <a:p>
            <a:r>
              <a:rPr lang="en-US" sz="2800" dirty="0"/>
              <a:t>3.1 — Reading Multiple Detector Images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83BC1C6-5345-FD99-2BE3-94ADA82CE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5" y="1326995"/>
            <a:ext cx="10812745" cy="646331"/>
          </a:xfrm>
        </p:spPr>
        <p:txBody>
          <a:bodyPr/>
          <a:lstStyle/>
          <a:p>
            <a:r>
              <a:rPr lang="en-US" sz="2000" dirty="0"/>
              <a:t>Read all detector image files taken at different integration times into Python.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90DE0-E49C-4E54-E8C6-FAF8B8BE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0B46D-555C-F071-9B51-891953E4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9E7F8A-FE2C-CCC8-3259-319079A82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01" y="1856316"/>
            <a:ext cx="5696745" cy="461704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2F9A671-8FAD-BD24-A84C-5C72154A0B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373" y="2902161"/>
            <a:ext cx="5537439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79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078AB63-15BE-9998-11FE-6C1CFB35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7" y="289931"/>
            <a:ext cx="10862868" cy="737523"/>
          </a:xfrm>
        </p:spPr>
        <p:txBody>
          <a:bodyPr anchor="t">
            <a:noAutofit/>
          </a:bodyPr>
          <a:lstStyle/>
          <a:p>
            <a:r>
              <a:rPr lang="en-US" b="1" dirty="0"/>
              <a:t>3.2,3.3 — Computing Average Pixel Value (Offset Estimation)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E791A-763E-36C6-DED6-76EB1404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4CC7F096-3844-2311-F1D3-83311D86AF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180653-0EF6-FA2B-F32D-5FD03D4CA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4617DBA-72B2-6C44-338B-40057DD1236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56117" y="944356"/>
            <a:ext cx="5483583" cy="5418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b="1" dirty="0"/>
              <a:t>Why this step?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Detector introduces a baseline offset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changes with integration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Must be understood before calibration</a:t>
            </a:r>
          </a:p>
          <a:p>
            <a:pPr>
              <a:buNone/>
            </a:pPr>
            <a:r>
              <a:rPr lang="en-US" b="1" dirty="0"/>
              <a:t>What is done?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= </a:t>
            </a:r>
            <a:r>
              <a:rPr lang="en-US" sz="2000" b="1" dirty="0"/>
              <a:t>average pixel value</a:t>
            </a:r>
            <a:r>
              <a:rPr lang="en-US" sz="2000" dirty="0"/>
              <a:t> of each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Computed for multiple integration times</a:t>
            </a:r>
            <a:r>
              <a:rPr lang="en-US" sz="2000" i="1" dirty="0"/>
              <a:t>(350 </a:t>
            </a:r>
            <a:r>
              <a:rPr lang="en-US" sz="2000" i="1" dirty="0" err="1"/>
              <a:t>ms</a:t>
            </a:r>
            <a:r>
              <a:rPr lang="en-US" sz="2000" i="1" dirty="0"/>
              <a:t> → 4000 </a:t>
            </a:r>
            <a:r>
              <a:rPr lang="en-US" sz="2000" i="1" dirty="0" err="1"/>
              <a:t>ms</a:t>
            </a:r>
            <a:r>
              <a:rPr lang="en-US" sz="2000" i="1" dirty="0"/>
              <a:t>)</a:t>
            </a:r>
            <a:endParaRPr lang="en-US" sz="2000" dirty="0"/>
          </a:p>
          <a:p>
            <a:pPr>
              <a:buNone/>
            </a:pPr>
            <a:r>
              <a:rPr lang="en-US" b="1" dirty="0"/>
              <a:t>How it works?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Read each raw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Calculate mean of all pixels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Plot mean value vs integration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1" name="Content Placeholder 30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CC384B89-0007-CCCA-FDA2-1750FF03A5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882650"/>
            <a:ext cx="5829300" cy="5020469"/>
          </a:xfrm>
        </p:spPr>
      </p:pic>
    </p:spTree>
    <p:extLst>
      <p:ext uri="{BB962C8B-B14F-4D97-AF65-F5344CB8AC3E}">
        <p14:creationId xmlns:p14="http://schemas.microsoft.com/office/powerpoint/2010/main" val="285438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9A55-7B3E-44DA-C3D8-0B56E026F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3.4 — Polynomial Modeling of Offset vs Integration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7E83-69FA-593D-9064-6CC1742AF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5" y="1024644"/>
            <a:ext cx="5994019" cy="5529719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Why this step?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varies with integration time</a:t>
            </a:r>
          </a:p>
          <a:p>
            <a:r>
              <a:rPr lang="en-US" sz="2000" dirty="0"/>
              <a:t>Enable offset predictions at any exposure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Required for scaling and correction.</a:t>
            </a:r>
          </a:p>
          <a:p>
            <a:pPr>
              <a:buNone/>
            </a:pPr>
            <a:r>
              <a:rPr lang="en-US" b="1" dirty="0"/>
              <a:t>What is done?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2nd-degree polynomial fitted to measured data</a:t>
            </a:r>
          </a:p>
          <a:p>
            <a:pPr>
              <a:buNone/>
            </a:pPr>
            <a:r>
              <a:rPr lang="en-US" b="1" dirty="0"/>
              <a:t>How this works?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Used NumPy </a:t>
            </a:r>
            <a:r>
              <a:rPr lang="en-US" sz="2000" dirty="0" err="1"/>
              <a:t>polyfit</a:t>
            </a:r>
            <a:r>
              <a:rPr lang="en-US" sz="2000" dirty="0"/>
              <a:t> to model offset behavior</a:t>
            </a:r>
          </a:p>
          <a:p>
            <a:pPr>
              <a:buNone/>
            </a:pPr>
            <a:r>
              <a:rPr lang="en-US" b="1" dirty="0"/>
              <a:t>Result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Smooth curve accurately represents offset trend</a:t>
            </a:r>
          </a:p>
          <a:p>
            <a:endParaRPr lang="en-US" dirty="0"/>
          </a:p>
        </p:txBody>
      </p:sp>
      <p:pic>
        <p:nvPicPr>
          <p:cNvPr id="9" name="Content Placeholder 8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D030DCE2-9601-C579-606A-BE47E8A080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44" y="1148576"/>
            <a:ext cx="5486411" cy="4397359"/>
          </a:xfr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22437-75A8-5BB7-304B-F0C4D73E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F7CA-6A95-4924-B69D-36F64DB55749}" type="datetime1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97C1-C991-EAED-4122-C8B4F66B5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2792D-C5D7-BF46-D6CF-91661496A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46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9FA70D3-AB31-7C4E-D7F9-A3B5E1CB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136525"/>
            <a:ext cx="10580151" cy="708733"/>
          </a:xfrm>
        </p:spPr>
        <p:txBody>
          <a:bodyPr/>
          <a:lstStyle/>
          <a:p>
            <a:r>
              <a:rPr lang="en-US" b="1" dirty="0">
                <a:latin typeface="Century Gothic(Headings)"/>
              </a:rPr>
              <a:t>3.5 — Scaling Images Using 500 </a:t>
            </a:r>
            <a:r>
              <a:rPr lang="en-US" b="1" dirty="0" err="1">
                <a:latin typeface="Century Gothic(Headings)"/>
              </a:rPr>
              <a:t>ms</a:t>
            </a:r>
            <a:r>
              <a:rPr lang="en-US" b="1" dirty="0">
                <a:latin typeface="Century Gothic(Headings)"/>
              </a:rPr>
              <a:t> Reference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B044F31-1F00-A035-C73B-C5C98115A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669073"/>
            <a:ext cx="11636187" cy="6551264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Why this step?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Images are captured at different integration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Pixel values cannot be compared directly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Scaling removes integration-time dependency</a:t>
            </a:r>
          </a:p>
          <a:p>
            <a:pPr>
              <a:buNone/>
            </a:pPr>
            <a:r>
              <a:rPr lang="en-US" sz="2400" b="1" dirty="0"/>
              <a:t>What is done?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500 </a:t>
            </a:r>
            <a:r>
              <a:rPr lang="en-US" sz="2000" dirty="0" err="1"/>
              <a:t>ms</a:t>
            </a:r>
            <a:r>
              <a:rPr lang="en-US" sz="2000" dirty="0"/>
              <a:t> image chosen as reference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Polynomial model predicts average pixel value vs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image is scaled to behave like a 500 </a:t>
            </a:r>
            <a:r>
              <a:rPr lang="en-US" sz="2000" dirty="0" err="1"/>
              <a:t>ms</a:t>
            </a:r>
            <a:r>
              <a:rPr lang="en-US" sz="2000" dirty="0"/>
              <a:t> image</a:t>
            </a:r>
          </a:p>
          <a:p>
            <a:pPr>
              <a:buNone/>
            </a:pPr>
            <a:r>
              <a:rPr lang="en-US" sz="2400" b="1" dirty="0"/>
              <a:t>How it works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Scaling factor = </a:t>
            </a:r>
            <a:r>
              <a:rPr lang="en-US" sz="2000" b="1" dirty="0"/>
              <a:t>Predicted offset at 500 </a:t>
            </a:r>
            <a:r>
              <a:rPr lang="en-US" sz="2000" b="1" dirty="0" err="1"/>
              <a:t>ms</a:t>
            </a:r>
            <a:r>
              <a:rPr lang="en-US" sz="2000" b="1" dirty="0"/>
              <a:t> ÷ Predicted offset at current time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Every pixel in the image is multiplied by this factor</a:t>
            </a:r>
          </a:p>
          <a:p>
            <a:pPr>
              <a:buNone/>
            </a:pPr>
            <a:r>
              <a:rPr lang="en-US" sz="2400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images normalized to the same baseline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Images are now directly comparable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CA435-0B58-D071-30EC-F453D5A12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5C1D2-D3CE-0D69-3206-C30D49825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27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6F4D-37B4-FD06-3CE5-F6E772EC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(Headings)"/>
              </a:rPr>
              <a:t>3.6 — </a:t>
            </a:r>
            <a:r>
              <a:rPr lang="en-US" b="1" dirty="0"/>
              <a:t>Subtracting 500 </a:t>
            </a:r>
            <a:r>
              <a:rPr lang="en-US" b="1" dirty="0" err="1"/>
              <a:t>ms</a:t>
            </a:r>
            <a:r>
              <a:rPr lang="en-US" b="1" dirty="0"/>
              <a:t> Reference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E93A-D29F-4D3A-75FB-852C8025F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6" y="1003610"/>
            <a:ext cx="6497224" cy="5695918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Why this step?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Even after scaling, images still contain </a:t>
            </a:r>
            <a:r>
              <a:rPr lang="en-US" sz="2000" b="1" dirty="0"/>
              <a:t>fixed detector offset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is common across all pixels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Must be removed to analyze </a:t>
            </a:r>
            <a:r>
              <a:rPr lang="en-US" sz="2000" b="1" dirty="0"/>
              <a:t>true noise behavior</a:t>
            </a:r>
            <a:endParaRPr lang="en-US" sz="2000" dirty="0"/>
          </a:p>
          <a:p>
            <a:pPr>
              <a:buNone/>
            </a:pPr>
            <a:r>
              <a:rPr lang="en-US" b="1" dirty="0"/>
              <a:t>What is done?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500 </a:t>
            </a:r>
            <a:r>
              <a:rPr lang="en-US" sz="2000" dirty="0" err="1"/>
              <a:t>ms</a:t>
            </a:r>
            <a:r>
              <a:rPr lang="en-US" sz="2000" dirty="0"/>
              <a:t> image used as </a:t>
            </a:r>
            <a:r>
              <a:rPr lang="en-US" sz="2000" b="1" dirty="0"/>
              <a:t>reference baseline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scaled image is compared against this reference</a:t>
            </a:r>
          </a:p>
          <a:p>
            <a:pPr>
              <a:buNone/>
            </a:pPr>
            <a:r>
              <a:rPr lang="en-US" b="1" dirty="0"/>
              <a:t>How it works (concept)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Pixel-by-pixel subtraction is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Formula:</a:t>
            </a:r>
            <a:br>
              <a:rPr lang="en-US" sz="2000" dirty="0"/>
            </a:br>
            <a:r>
              <a:rPr lang="en-US" sz="2000" b="1" dirty="0"/>
              <a:t>Subtracted Image = Scaled Image − 500 </a:t>
            </a:r>
            <a:r>
              <a:rPr lang="en-US" sz="2000" b="1" dirty="0" err="1"/>
              <a:t>ms</a:t>
            </a:r>
            <a:r>
              <a:rPr lang="en-US" sz="2000" b="1" dirty="0"/>
              <a:t> Image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7EB5-06A9-EC51-51F1-B0F7DFCCB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1815" y="2319454"/>
            <a:ext cx="4993997" cy="2378087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Baseline offset removed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Only </a:t>
            </a:r>
            <a:r>
              <a:rPr lang="en-US" sz="2000" b="1" dirty="0"/>
              <a:t>noise and residual variations</a:t>
            </a:r>
            <a:r>
              <a:rPr lang="en-US" sz="2000" dirty="0"/>
              <a:t> remain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Images are ready for </a:t>
            </a:r>
            <a:r>
              <a:rPr lang="en-US" sz="2000" b="1" dirty="0"/>
              <a:t>statistical analysis</a:t>
            </a:r>
            <a:endParaRPr lang="en-US" sz="2000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81192-B2FA-CA8A-E982-66A184F3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F7CA-6A95-4924-B69D-36F64DB55749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E5091-BF47-3C3A-714A-9B5BE7C9C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E07B8-F353-72C9-65B3-208EB6DEF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09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3AB8C14-4E0C-6A96-6FA5-FEEBE209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/>
          <a:lstStyle/>
          <a:p>
            <a:r>
              <a:rPr lang="en-US" b="1" dirty="0"/>
              <a:t>3.7 — Noise Analysis Using Standard Deviation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44BA03D-D6F6-D2BE-C0DF-BD205A8F3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059366"/>
            <a:ext cx="11636187" cy="6059049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Why this step?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b="1" dirty="0"/>
              <a:t>quantify detector noise</a:t>
            </a:r>
            <a:r>
              <a:rPr lang="en-US" sz="2000" dirty="0"/>
              <a:t> after offset correction.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 understand how </a:t>
            </a:r>
            <a:r>
              <a:rPr lang="en-US" sz="2000" b="1" dirty="0"/>
              <a:t>noise varies with integration time.</a:t>
            </a:r>
            <a:endParaRPr lang="en-US" sz="2000" dirty="0"/>
          </a:p>
          <a:p>
            <a:pPr>
              <a:buNone/>
            </a:pPr>
            <a:r>
              <a:rPr lang="en-US" sz="2400" b="1" dirty="0"/>
              <a:t>What is done?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Reference image (500 </a:t>
            </a:r>
            <a:r>
              <a:rPr lang="en-US" sz="2000" dirty="0" err="1"/>
              <a:t>ms</a:t>
            </a:r>
            <a:r>
              <a:rPr lang="en-US" sz="2000" dirty="0"/>
              <a:t>) is subtracted from all scaled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Standard deviation</a:t>
            </a:r>
            <a:r>
              <a:rPr lang="en-US" sz="2000" dirty="0"/>
              <a:t> is computed for each subtracted image.</a:t>
            </a:r>
          </a:p>
          <a:p>
            <a:pPr>
              <a:buNone/>
            </a:pPr>
            <a:r>
              <a:rPr lang="en-US" sz="2400" b="1" dirty="0"/>
              <a:t>How it works?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Standard deviation measures </a:t>
            </a:r>
            <a:r>
              <a:rPr lang="en-US" sz="2000" b="1" dirty="0"/>
              <a:t>pixel-to-pixel variation.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Higher value → </a:t>
            </a:r>
            <a:r>
              <a:rPr lang="en-US" sz="2000" b="1" dirty="0"/>
              <a:t>more noise.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Lower value → </a:t>
            </a:r>
            <a:r>
              <a:rPr lang="en-US" sz="2000" b="1" dirty="0"/>
              <a:t>more stable detector response.</a:t>
            </a:r>
            <a:endParaRPr lang="en-US" sz="2000" dirty="0"/>
          </a:p>
          <a:p>
            <a:pPr>
              <a:buNone/>
            </a:pPr>
            <a:r>
              <a:rPr lang="en-US" sz="2400" b="1" dirty="0"/>
              <a:t>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Noise is plotted against </a:t>
            </a:r>
            <a:r>
              <a:rPr lang="en-US" sz="2000" b="1" dirty="0"/>
              <a:t>integration time.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Reveals detector noise behavior across exposures.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49879-5CBD-93BE-DD04-118987126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E0CC6-2323-96B7-DB2A-C98E0C968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7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8731-88FA-2DF9-A03F-428B5718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3620-21AB-A7E0-FE1C-2F770FB6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Century Gothic(Headings)"/>
              </a:rPr>
              <a:t>Key learnings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C21887-188F-4350-8913-1448DB22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37" name="Footer Placeholder 5">
            <a:extLst>
              <a:ext uri="{FF2B5EF4-FFF2-40B4-BE49-F238E27FC236}">
                <a16:creationId xmlns:a16="http://schemas.microsoft.com/office/drawing/2014/main" id="{A410663A-D950-07FF-F5E5-199A7BA6B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B93FA2-8E76-55EB-C6AA-C7401F5B5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A0A68B00-8F4B-C04C-0013-05A1329D165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9411018"/>
              </p:ext>
            </p:extLst>
          </p:nvPr>
        </p:nvGraphicFramePr>
        <p:xfrm>
          <a:off x="493010" y="1092819"/>
          <a:ext cx="10580152" cy="5051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2120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04ACF6D-A3AD-A023-FD0D-0CD34DD0D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1421928"/>
          </a:xfrm>
        </p:spPr>
        <p:txBody>
          <a:bodyPr/>
          <a:lstStyle/>
          <a:p>
            <a:r>
              <a:rPr lang="en-US" sz="3200" b="1" dirty="0"/>
              <a:t>TASK 4 — Row-wise Offset Characterization &amp; Normalization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AC6F557-BD2E-B2E5-A770-11FE23FDC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471961"/>
            <a:ext cx="11636187" cy="5666679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What is this task?</a:t>
            </a:r>
          </a:p>
          <a:p>
            <a:pPr>
              <a:buNone/>
            </a:pPr>
            <a:r>
              <a:rPr lang="en-US" sz="2000" dirty="0"/>
              <a:t>Instead of using </a:t>
            </a:r>
            <a:r>
              <a:rPr lang="en-US" sz="2000" b="1" dirty="0"/>
              <a:t>one average per image</a:t>
            </a:r>
            <a:r>
              <a:rPr lang="en-US" sz="2000" dirty="0"/>
              <a:t>, we 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Divide the detector into </a:t>
            </a:r>
            <a:r>
              <a:rPr lang="en-US" sz="2000" b="1" dirty="0"/>
              <a:t>three row regions.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Region 1: rows </a:t>
            </a:r>
            <a:r>
              <a:rPr lang="en-US" sz="2000" b="1" dirty="0"/>
              <a:t>0 – 1428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Region 2: rows </a:t>
            </a:r>
            <a:r>
              <a:rPr lang="en-US" sz="2000" b="1" dirty="0"/>
              <a:t>1429 – 2857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Region 3: rows </a:t>
            </a:r>
            <a:r>
              <a:rPr lang="en-US" sz="2000" b="1" dirty="0"/>
              <a:t>2858 – 4287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Treat each region </a:t>
            </a:r>
            <a:r>
              <a:rPr lang="en-US" sz="2000" b="1" dirty="0"/>
              <a:t>independently.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Perform </a:t>
            </a:r>
            <a:r>
              <a:rPr lang="en-US" sz="2000" b="1" dirty="0"/>
              <a:t>separate offset modeling and scaling</a:t>
            </a:r>
            <a:r>
              <a:rPr lang="en-US" sz="2000" dirty="0"/>
              <a:t> per region.</a:t>
            </a:r>
          </a:p>
          <a:p>
            <a:pPr>
              <a:buNone/>
            </a:pPr>
            <a:r>
              <a:rPr lang="en-US" sz="2400" b="1" dirty="0"/>
              <a:t>Why this task?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detector does </a:t>
            </a:r>
            <a:r>
              <a:rPr lang="en-US" sz="2000" b="1" dirty="0"/>
              <a:t>not behave uniformly across all rows.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single global average (~3400 ADU) </a:t>
            </a:r>
            <a:r>
              <a:rPr lang="en-US" sz="2000" b="1" dirty="0"/>
              <a:t>hides row-dependent behavior.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Different row regions have </a:t>
            </a:r>
            <a:r>
              <a:rPr lang="en-US" sz="2000" b="1" dirty="0"/>
              <a:t>different offset characteristics.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5D5BA-8534-698E-6BFE-E927F8D86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37305-6C65-86EB-042D-6559BF228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08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CD72B4A-04F8-A0F7-EFE6-CEE0289C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425630"/>
            <a:ext cx="10817120" cy="480131"/>
          </a:xfrm>
        </p:spPr>
        <p:txBody>
          <a:bodyPr/>
          <a:lstStyle/>
          <a:p>
            <a:r>
              <a:rPr lang="en-US" b="1" dirty="0">
                <a:latin typeface="Century Gothic(Headings)"/>
              </a:rPr>
              <a:t>Changes compared to Task </a:t>
            </a:r>
            <a:r>
              <a:rPr lang="en-US" b="1" dirty="0"/>
              <a:t>3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5D819-A35B-3388-1945-CBFDBB7E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59E74-9B71-EE55-A0EB-F0D5EEBD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E9DFEA-EF72-76B4-8D8A-DEB08DD911E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58542120"/>
              </p:ext>
            </p:extLst>
          </p:nvPr>
        </p:nvGraphicFramePr>
        <p:xfrm>
          <a:off x="1962614" y="1282390"/>
          <a:ext cx="8040030" cy="4697331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4144339">
                  <a:extLst>
                    <a:ext uri="{9D8B030D-6E8A-4147-A177-3AD203B41FA5}">
                      <a16:colId xmlns:a16="http://schemas.microsoft.com/office/drawing/2014/main" val="1127961005"/>
                    </a:ext>
                  </a:extLst>
                </a:gridCol>
                <a:gridCol w="3895691">
                  <a:extLst>
                    <a:ext uri="{9D8B030D-6E8A-4147-A177-3AD203B41FA5}">
                      <a16:colId xmlns:a16="http://schemas.microsoft.com/office/drawing/2014/main" val="682138067"/>
                    </a:ext>
                  </a:extLst>
                </a:gridCol>
              </a:tblGrid>
              <a:tr h="761579">
                <a:tc>
                  <a:txBody>
                    <a:bodyPr/>
                    <a:lstStyle/>
                    <a:p>
                      <a:r>
                        <a:rPr lang="en-US" sz="2400" b="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            Task 3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              Task 4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73913"/>
                  </a:ext>
                </a:extLst>
              </a:tr>
              <a:tr h="98393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One average per image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Three averages per image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36253"/>
                  </a:ext>
                </a:extLst>
              </a:tr>
              <a:tr h="98393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latin typeface="Century Gothic "/>
                        </a:rPr>
                        <a:t>One polynomial fit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Three polynomial fits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701009"/>
                  </a:ext>
                </a:extLst>
              </a:tr>
              <a:tr h="98393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latin typeface="Century Gothic "/>
                        </a:rPr>
                        <a:t>One scaling factor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Region-wise scaling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940969"/>
                  </a:ext>
                </a:extLst>
              </a:tr>
              <a:tr h="98393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>
                          <a:solidFill>
                            <a:schemeClr val="bg1"/>
                          </a:solidFill>
                          <a:latin typeface="Century Gothic "/>
                        </a:rPr>
                        <a:t>Global correction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cap="none" spc="0" dirty="0">
                          <a:solidFill>
                            <a:schemeClr val="bg1"/>
                          </a:solidFill>
                          <a:latin typeface="Century Gothic "/>
                        </a:rPr>
                        <a:t>Spatially-aware correction</a:t>
                      </a:r>
                    </a:p>
                  </a:txBody>
                  <a:tcPr marL="135959" marR="135959" marT="135959" marB="6797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11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641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A135-722C-741B-2DA6-5554D517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222171"/>
            <a:ext cx="10605247" cy="745749"/>
          </a:xfrm>
        </p:spPr>
        <p:txBody>
          <a:bodyPr/>
          <a:lstStyle/>
          <a:p>
            <a:r>
              <a:rPr lang="en-US" b="1" dirty="0">
                <a:latin typeface="Century Gothic(Headings)"/>
              </a:rPr>
              <a:t>4.1 — Row-wise Average Pixel Calculation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06114-C7B6-0E6D-2F1E-23404C808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5" y="836342"/>
            <a:ext cx="10065613" cy="54538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is done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detector image is divided into </a:t>
            </a:r>
            <a:r>
              <a:rPr lang="en-US" sz="2000" b="1" dirty="0"/>
              <a:t>three row regions.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Average pixel value is calculated </a:t>
            </a:r>
            <a:r>
              <a:rPr lang="en-US" sz="2000" b="1" dirty="0"/>
              <a:t>separately for each region.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Row regions used: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Region 1:</a:t>
            </a:r>
            <a:r>
              <a:rPr lang="en-US" sz="2000" dirty="0"/>
              <a:t> Rows 0 – 1428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Region 2:</a:t>
            </a:r>
            <a:r>
              <a:rPr lang="en-US" sz="2000" dirty="0"/>
              <a:t> Rows 1429 – 2857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Region 3:</a:t>
            </a:r>
            <a:r>
              <a:rPr lang="en-US" sz="2000" dirty="0"/>
              <a:t> Rows 2858 – 4287</a:t>
            </a:r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Why is this needed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Overall image average hides </a:t>
            </a:r>
            <a:r>
              <a:rPr lang="en-US" sz="2000" b="1" dirty="0"/>
              <a:t>row-dependent offset behavior.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Different row regions show </a:t>
            </a:r>
            <a:r>
              <a:rPr lang="en-US" sz="2000" b="1" dirty="0"/>
              <a:t>different baseline levels.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Region-wise averages reveal </a:t>
            </a:r>
            <a:r>
              <a:rPr lang="en-US" sz="2000" b="1" dirty="0"/>
              <a:t>spatial non-uniformity.</a:t>
            </a:r>
            <a:endParaRPr lang="en-US" sz="20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767133-0A79-0742-4B6F-1D83E0EE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6AC8-1865-4B9E-8B4B-3E2BA1B69A24}" type="datetime1">
              <a:rPr lang="en-US" smtClean="0"/>
              <a:t>1/27/2026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4B0C3A-6DAC-9E00-451C-CCE00EF8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1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8D2D-7A55-F84F-A5C2-93C0E9DF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867930"/>
          </a:xfrm>
        </p:spPr>
        <p:txBody>
          <a:bodyPr/>
          <a:lstStyle/>
          <a:p>
            <a:r>
              <a:rPr lang="en-US" b="1" dirty="0">
                <a:latin typeface="Century Gothic(Headings)"/>
              </a:rPr>
              <a:t>4.2 — Create 3 plots (Region-wise average vs Integration Time)</a:t>
            </a:r>
          </a:p>
        </p:txBody>
      </p:sp>
      <p:pic>
        <p:nvPicPr>
          <p:cNvPr id="12" name="Content Placeholder 11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3E7F212B-F24F-B2C1-1BDC-493DFD56E1E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510" y="1117202"/>
            <a:ext cx="3895762" cy="3657607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22225-A13E-83FA-3A57-EB3F041A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6AC8-1865-4B9E-8B4B-3E2BA1B69A24}" type="datetime1">
              <a:rPr lang="en-US" smtClean="0"/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19D1E-8674-0974-98D6-EE3FAB06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0C7E3-F9DA-4B73-B719-A02CA0A1E0F8}" type="slidenum">
              <a:rPr lang="en-US" smtClean="0"/>
              <a:t>27</a:t>
            </a:fld>
            <a:endParaRPr lang="en-US"/>
          </a:p>
        </p:txBody>
      </p:sp>
      <p:pic>
        <p:nvPicPr>
          <p:cNvPr id="16" name="Content Placeholder 15" descr="A graph with a line and a dotted line&#10;&#10;AI-generated content may be incorrect.">
            <a:extLst>
              <a:ext uri="{FF2B5EF4-FFF2-40B4-BE49-F238E27FC236}">
                <a16:creationId xmlns:a16="http://schemas.microsoft.com/office/drawing/2014/main" id="{3908AEFB-0DE3-3925-4512-CC4A684466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46" y="1117203"/>
            <a:ext cx="3872697" cy="3657607"/>
          </a:xfrm>
        </p:spPr>
      </p:pic>
      <p:pic>
        <p:nvPicPr>
          <p:cNvPr id="18" name="Picture 17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ACA16F92-630A-8FF5-A388-86E7775F29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272" y="1117201"/>
            <a:ext cx="4207727" cy="36576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C6802D-4157-452B-D8FC-EA2E669C5E16}"/>
              </a:ext>
            </a:extLst>
          </p:cNvPr>
          <p:cNvSpPr txBox="1"/>
          <p:nvPr/>
        </p:nvSpPr>
        <p:spPr>
          <a:xfrm>
            <a:off x="349625" y="4928839"/>
            <a:ext cx="70101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Century Gothic(Headings)"/>
              </a:rPr>
              <a:t>Outcome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Three distinct offset curves obtained.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Confirms spatial variation across detector rows.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3304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A63728DA-C155-BC40-1318-83DE71A36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777875"/>
          </a:xfrm>
        </p:spPr>
        <p:txBody>
          <a:bodyPr anchor="t">
            <a:normAutofit/>
          </a:bodyPr>
          <a:lstStyle/>
          <a:p>
            <a:r>
              <a:rPr lang="en-US" b="1" dirty="0"/>
              <a:t>4.3 — Polynomial Modeling for Each Row Region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ADED302-E586-0A30-5EF5-B5D634065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626" y="1143001"/>
            <a:ext cx="5819536" cy="508497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/>
              <a:t>What is done?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Three separate polynomial fits applied: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One for each row 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fit models: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Average pixel value vs integration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Low-degree polynomial chosen for stability.</a:t>
            </a:r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r>
              <a:rPr lang="en-US" b="1" dirty="0"/>
              <a:t>Why polynomial fitting?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varies smoothly with integration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Polynomial captures this trend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Avoids overfitting while preserving accuracy.</a:t>
            </a:r>
          </a:p>
        </p:txBody>
      </p:sp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A4A7E92B-55C1-2A6B-EF21-39B0F1A5D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745" y="754062"/>
            <a:ext cx="4826000" cy="5512224"/>
          </a:xfrm>
          <a:prstGeom prst="rect">
            <a:avLst/>
          </a:prstGeom>
          <a:noFill/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6F90BA-F982-045A-A9CF-2C5A2ED7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8CCFE8-D06B-6EC9-2F2D-644F8945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17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816275F-8318-4BD8-6A57-26082D92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/>
          <a:lstStyle/>
          <a:p>
            <a:r>
              <a:rPr lang="en-US" b="1" dirty="0"/>
              <a:t>4.4 — Region-wise Scaling of Detector Images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5D6EA3E-404E-F968-3BAD-7CE9E3FAC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5" y="1103972"/>
            <a:ext cx="9759575" cy="5509930"/>
          </a:xfrm>
        </p:spPr>
        <p:txBody>
          <a:bodyPr/>
          <a:lstStyle/>
          <a:p>
            <a:pPr>
              <a:buNone/>
            </a:pPr>
            <a:r>
              <a:rPr lang="en-US" sz="2400" b="1" dirty="0"/>
              <a:t>What is done?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Detector rows divided into </a:t>
            </a:r>
            <a:r>
              <a:rPr lang="en-US" sz="2000" b="1" dirty="0"/>
              <a:t>3 regions.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region scaled using its </a:t>
            </a:r>
            <a:r>
              <a:rPr lang="en-US" sz="2000" b="1" dirty="0"/>
              <a:t>own polynomial fit.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Reference integration time: </a:t>
            </a:r>
            <a:r>
              <a:rPr lang="en-US" sz="2000" b="1" dirty="0"/>
              <a:t>500 </a:t>
            </a:r>
            <a:r>
              <a:rPr lang="en-US" sz="2000" b="1" dirty="0" err="1"/>
              <a:t>ms.</a:t>
            </a:r>
            <a:endParaRPr lang="en-US" sz="2000" dirty="0"/>
          </a:p>
          <a:p>
            <a:pPr>
              <a:buNone/>
            </a:pPr>
            <a:r>
              <a:rPr lang="en-US" sz="2400" b="1" dirty="0"/>
              <a:t>Why scaling is needed?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behavior varies across detector rows.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Single global scaling is insufficient.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Region-wise scaling ensures accurate normalization.</a:t>
            </a:r>
          </a:p>
          <a:p>
            <a:pPr>
              <a:buNone/>
            </a:pPr>
            <a:r>
              <a:rPr lang="en-US" sz="2400" b="1" dirty="0"/>
              <a:t>Outcome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images normalized to a </a:t>
            </a:r>
            <a:r>
              <a:rPr lang="en-US" sz="2000" b="1" dirty="0"/>
              <a:t>common baseline.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Integration-time dependence removed.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Spatial characteristics preserved.</a:t>
            </a:r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39208-025E-8544-708A-06D5B518D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7FA2C-5AD8-9236-AB9A-9DF6F4B54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6213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7EB68C7-CA72-A608-AB5A-EB0FA936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6" y="365125"/>
            <a:ext cx="10605246" cy="867930"/>
          </a:xfrm>
        </p:spPr>
        <p:txBody>
          <a:bodyPr/>
          <a:lstStyle/>
          <a:p>
            <a:r>
              <a:rPr lang="en-US" b="1" dirty="0"/>
              <a:t>Validation: Row-wise Average After Scaling</a:t>
            </a:r>
            <a:br>
              <a:rPr lang="en-US" dirty="0"/>
            </a:b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43D8B10-7468-1359-990A-85F232B9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49" y="1037064"/>
            <a:ext cx="5647951" cy="56754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is shown?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Row-wise average pixel value vs row number,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 shown for </a:t>
            </a:r>
            <a:r>
              <a:rPr lang="en-US" sz="2000" b="1" dirty="0"/>
              <a:t>1000 </a:t>
            </a:r>
            <a:r>
              <a:rPr lang="en-US" sz="2000" b="1" dirty="0" err="1"/>
              <a:t>ms</a:t>
            </a:r>
            <a:r>
              <a:rPr lang="en-US" sz="2000" b="1" dirty="0"/>
              <a:t> image.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Data after </a:t>
            </a:r>
            <a:r>
              <a:rPr lang="en-US" sz="2000" b="1" dirty="0"/>
              <a:t>region-wise scaling.</a:t>
            </a:r>
            <a:endParaRPr lang="en-US" sz="2000" dirty="0"/>
          </a:p>
          <a:p>
            <a:pPr>
              <a:buNone/>
            </a:pPr>
            <a:r>
              <a:rPr lang="en-US" b="1" dirty="0"/>
              <a:t>What we observe?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Smooth transition across row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discontinuities at region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Overall detector structure preserved.</a:t>
            </a:r>
          </a:p>
          <a:p>
            <a:pPr>
              <a:buNone/>
            </a:pPr>
            <a:r>
              <a:rPr lang="en-US" b="1" dirty="0"/>
              <a:t>Conclusion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Region-wise scaling applied correctly.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Offset differences successfully corrected.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Detector response is spatially consistent.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E13C1-0AB6-BFD2-FA06-7731CCC1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9A724-71D2-49FB-3696-BA8F900A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pic>
        <p:nvPicPr>
          <p:cNvPr id="9" name="Picture 8" descr="A graph with blue lines&#10;&#10;AI-generated content may be incorrect.">
            <a:extLst>
              <a:ext uri="{FF2B5EF4-FFF2-40B4-BE49-F238E27FC236}">
                <a16:creationId xmlns:a16="http://schemas.microsoft.com/office/drawing/2014/main" id="{95D1BCFD-C3FB-FC8D-E8D4-915F7D10D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273" y="1354869"/>
            <a:ext cx="568757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48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7F1A5-51A6-BA4C-38E6-E1DA0948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5C98-0457-F033-9A2F-22486D126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anchor="t">
            <a:noAutofit/>
          </a:bodyPr>
          <a:lstStyle/>
          <a:p>
            <a:r>
              <a:rPr lang="en-US" b="1" dirty="0">
                <a:latin typeface="Century Gothic(Headings)"/>
              </a:rPr>
              <a:t>Key learnings</a:t>
            </a:r>
            <a:br>
              <a:rPr lang="en-US" dirty="0"/>
            </a:b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6B349-70A3-C336-134C-F05291A6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E66AC8-1865-4B9E-8B4B-3E2BA1B69A24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37" name="Footer Placeholder 5">
            <a:extLst>
              <a:ext uri="{FF2B5EF4-FFF2-40B4-BE49-F238E27FC236}">
                <a16:creationId xmlns:a16="http://schemas.microsoft.com/office/drawing/2014/main" id="{A1FEE391-6A7F-553C-622B-1E1D85D11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6AA2A5-6A1E-B147-39C8-6F5E23F84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3952A6C6-8FC4-7AD9-20D7-A61BB01FBF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23532178"/>
              </p:ext>
            </p:extLst>
          </p:nvPr>
        </p:nvGraphicFramePr>
        <p:xfrm>
          <a:off x="493010" y="1092819"/>
          <a:ext cx="10580152" cy="5051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1045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6DD1-00BE-4CE3-70C6-1A8E4D06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5" y="365126"/>
            <a:ext cx="10580151" cy="480131"/>
          </a:xfrm>
        </p:spPr>
        <p:txBody>
          <a:bodyPr anchor="t">
            <a:normAutofit/>
          </a:bodyPr>
          <a:lstStyle/>
          <a:p>
            <a:r>
              <a:rPr lang="en-US" b="1" dirty="0"/>
              <a:t>Detector Image Processing — Clear Step-by-Step Flow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48452-EC32-2CC9-5B64-CDB4C3189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9625" y="6356350"/>
            <a:ext cx="323177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CCDF7CA-6A95-4924-B69D-36F64DB55749}" type="datetime1">
              <a:rPr lang="en-US" smtClean="0"/>
              <a:pPr>
                <a:spcAft>
                  <a:spcPts val="600"/>
                </a:spcAft>
              </a:pPr>
              <a:t>1/27/2026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6CEC3-2FB3-E179-0531-4415D70E0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37521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80C7E3-F9DA-4B73-B719-A02CA0A1E0F8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722F1FD-67A6-B60A-7AC2-DBC38616F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277622"/>
              </p:ext>
            </p:extLst>
          </p:nvPr>
        </p:nvGraphicFramePr>
        <p:xfrm>
          <a:off x="349625" y="1270900"/>
          <a:ext cx="11636187" cy="4978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73156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6810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arex Title Slide">
  <a:themeElements>
    <a:clrScheme name="Varex Colors">
      <a:dk1>
        <a:srgbClr val="345275"/>
      </a:dk1>
      <a:lt1>
        <a:sysClr val="window" lastClr="FFFFFF"/>
      </a:lt1>
      <a:dk2>
        <a:srgbClr val="11834A"/>
      </a:dk2>
      <a:lt2>
        <a:srgbClr val="E7E6E6"/>
      </a:lt2>
      <a:accent1>
        <a:srgbClr val="11834A"/>
      </a:accent1>
      <a:accent2>
        <a:srgbClr val="D0D552"/>
      </a:accent2>
      <a:accent3>
        <a:srgbClr val="FFA06E"/>
      </a:accent3>
      <a:accent4>
        <a:srgbClr val="6BBDB9"/>
      </a:accent4>
      <a:accent5>
        <a:srgbClr val="E9506E"/>
      </a:accent5>
      <a:accent6>
        <a:srgbClr val="8980D4"/>
      </a:accent6>
      <a:hlink>
        <a:srgbClr val="345275"/>
      </a:hlink>
      <a:folHlink>
        <a:srgbClr val="11834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arex Blank">
  <a:themeElements>
    <a:clrScheme name="Varex Colors">
      <a:dk1>
        <a:srgbClr val="345275"/>
      </a:dk1>
      <a:lt1>
        <a:sysClr val="window" lastClr="FFFFFF"/>
      </a:lt1>
      <a:dk2>
        <a:srgbClr val="11834A"/>
      </a:dk2>
      <a:lt2>
        <a:srgbClr val="E7E6E6"/>
      </a:lt2>
      <a:accent1>
        <a:srgbClr val="11834A"/>
      </a:accent1>
      <a:accent2>
        <a:srgbClr val="D0D552"/>
      </a:accent2>
      <a:accent3>
        <a:srgbClr val="FFA06E"/>
      </a:accent3>
      <a:accent4>
        <a:srgbClr val="6BBDB9"/>
      </a:accent4>
      <a:accent5>
        <a:srgbClr val="E9506E"/>
      </a:accent5>
      <a:accent6>
        <a:srgbClr val="8980D4"/>
      </a:accent6>
      <a:hlink>
        <a:srgbClr val="345275"/>
      </a:hlink>
      <a:folHlink>
        <a:srgbClr val="11834A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arex End Slide">
  <a:themeElements>
    <a:clrScheme name="Varex Colors">
      <a:dk1>
        <a:srgbClr val="345275"/>
      </a:dk1>
      <a:lt1>
        <a:sysClr val="window" lastClr="FFFFFF"/>
      </a:lt1>
      <a:dk2>
        <a:srgbClr val="11834A"/>
      </a:dk2>
      <a:lt2>
        <a:srgbClr val="E7E6E6"/>
      </a:lt2>
      <a:accent1>
        <a:srgbClr val="11834A"/>
      </a:accent1>
      <a:accent2>
        <a:srgbClr val="D0D552"/>
      </a:accent2>
      <a:accent3>
        <a:srgbClr val="FFA06E"/>
      </a:accent3>
      <a:accent4>
        <a:srgbClr val="6BBDB9"/>
      </a:accent4>
      <a:accent5>
        <a:srgbClr val="E9506E"/>
      </a:accent5>
      <a:accent6>
        <a:srgbClr val="8980D4"/>
      </a:accent6>
      <a:hlink>
        <a:srgbClr val="345275"/>
      </a:hlink>
      <a:folHlink>
        <a:srgbClr val="11834A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e6e1f7-b76a-4244-a8fb-b5f235936272" xsi:nil="true"/>
    <lcf76f155ced4ddcb4097134ff3c332f xmlns="a2ea76da-9e93-4609-9b7d-a4cb5a6311e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4BE0D373B2249BC7B0C955863F009" ma:contentTypeVersion="14" ma:contentTypeDescription="Create a new document." ma:contentTypeScope="" ma:versionID="cb1495ce36c0a4f21783c739309b62cd">
  <xsd:schema xmlns:xsd="http://www.w3.org/2001/XMLSchema" xmlns:xs="http://www.w3.org/2001/XMLSchema" xmlns:p="http://schemas.microsoft.com/office/2006/metadata/properties" xmlns:ns2="a2ea76da-9e93-4609-9b7d-a4cb5a6311e0" xmlns:ns3="dfe6e1f7-b76a-4244-a8fb-b5f235936272" targetNamespace="http://schemas.microsoft.com/office/2006/metadata/properties" ma:root="true" ma:fieldsID="88e0c2ddaf4fc0c9ffaa77f9454ce76a" ns2:_="" ns3:_="">
    <xsd:import namespace="a2ea76da-9e93-4609-9b7d-a4cb5a6311e0"/>
    <xsd:import namespace="dfe6e1f7-b76a-4244-a8fb-b5f2359362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a76da-9e93-4609-9b7d-a4cb5a6311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59f5d61c-c3c3-4ed5-b12e-b550676c8f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e6e1f7-b76a-4244-a8fb-b5f23593627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4c5d5a9-9b62-4456-9ac0-c9bc50049405}" ma:internalName="TaxCatchAll" ma:showField="CatchAllData" ma:web="dfe6e1f7-b76a-4244-a8fb-b5f2359362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32E44-2D83-4D41-9183-6F441766F2BF}">
  <ds:schemaRefs>
    <ds:schemaRef ds:uri="http://schemas.microsoft.com/office/infopath/2007/PartnerControls"/>
    <ds:schemaRef ds:uri="dfe6e1f7-b76a-4244-a8fb-b5f235936272"/>
    <ds:schemaRef ds:uri="http://schemas.microsoft.com/office/2006/documentManagement/types"/>
    <ds:schemaRef ds:uri="http://schemas.microsoft.com/office/2006/metadata/properties"/>
    <ds:schemaRef ds:uri="a2ea76da-9e93-4609-9b7d-a4cb5a6311e0"/>
    <ds:schemaRef ds:uri="http://purl.org/dc/terms/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12DDD74-E241-4B6C-ADB4-A454A02A09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ea76da-9e93-4609-9b7d-a4cb5a6311e0"/>
    <ds:schemaRef ds:uri="dfe6e1f7-b76a-4244-a8fb-b5f2359362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37BEAC-742C-49E2-9EC3-E5664C68F6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26437</TotalTime>
  <Words>2021</Words>
  <Application>Microsoft Office PowerPoint</Application>
  <PresentationFormat>Widescreen</PresentationFormat>
  <Paragraphs>403</Paragraphs>
  <Slides>33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Century Gothic</vt:lpstr>
      <vt:lpstr>Century Gothic </vt:lpstr>
      <vt:lpstr>Century Gothic(Headings)</vt:lpstr>
      <vt:lpstr>Varex Title Slide</vt:lpstr>
      <vt:lpstr>Varex Blank</vt:lpstr>
      <vt:lpstr>Varex End Slide</vt:lpstr>
      <vt:lpstr>think-cell Slide</vt:lpstr>
      <vt:lpstr>Mini project -SAREPAKA SURYA SAHITHI</vt:lpstr>
      <vt:lpstr>TASK 1 — Understanding &amp; Opening Raw Detector Image Data</vt:lpstr>
      <vt:lpstr>PowerPoint Presentation</vt:lpstr>
      <vt:lpstr>Raw File Structure </vt:lpstr>
      <vt:lpstr>How Raw Data Was Read? </vt:lpstr>
      <vt:lpstr>Image processing techniques implementation</vt:lpstr>
      <vt:lpstr>PowerPoint Presentation</vt:lpstr>
      <vt:lpstr>Key learnings </vt:lpstr>
      <vt:lpstr>TASK 2 — Pixel-Level Access &amp; Verification </vt:lpstr>
      <vt:lpstr>PowerPoint Presentation</vt:lpstr>
      <vt:lpstr>PowerPoint Presentation</vt:lpstr>
      <vt:lpstr>PowerPoint Presentation</vt:lpstr>
      <vt:lpstr>Key learnings </vt:lpstr>
      <vt:lpstr>TASK 3 — Offset Characterization &amp; Normalization Across Integration Time  </vt:lpstr>
      <vt:lpstr>WHAT IS REQUIRED?</vt:lpstr>
      <vt:lpstr>Basic definitions</vt:lpstr>
      <vt:lpstr>PowerPoint Presentation</vt:lpstr>
      <vt:lpstr>3.2,3.3 — Computing Average Pixel Value (Offset Estimation) </vt:lpstr>
      <vt:lpstr>3.4 — Polynomial Modeling of Offset vs Integration Time</vt:lpstr>
      <vt:lpstr>3.5 — Scaling Images Using 500 ms Reference</vt:lpstr>
      <vt:lpstr>3.6 — Subtracting 500 ms Reference Image</vt:lpstr>
      <vt:lpstr>3.7 — Noise Analysis Using Standard Deviation</vt:lpstr>
      <vt:lpstr>Key learnings </vt:lpstr>
      <vt:lpstr>TASK 4 — Row-wise Offset Characterization &amp; Normalization </vt:lpstr>
      <vt:lpstr>Changes compared to Task 3</vt:lpstr>
      <vt:lpstr>4.1 — Row-wise Average Pixel Calculation</vt:lpstr>
      <vt:lpstr>4.2 — Create 3 plots (Region-wise average vs Integration Time)</vt:lpstr>
      <vt:lpstr>4.3 — Polynomial Modeling for Each Row Region</vt:lpstr>
      <vt:lpstr>4.4 — Region-wise Scaling of Detector Images</vt:lpstr>
      <vt:lpstr>Validation: Row-wise Average After Scaling </vt:lpstr>
      <vt:lpstr>Key learnings </vt:lpstr>
      <vt:lpstr>Detector Image Processing — Clear Step-by-Step Flow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Peggy Ferguson</dc:creator>
  <cp:lastModifiedBy>Sahithi Sarepaka</cp:lastModifiedBy>
  <cp:revision>159</cp:revision>
  <dcterms:created xsi:type="dcterms:W3CDTF">2021-04-22T13:20:54Z</dcterms:created>
  <dcterms:modified xsi:type="dcterms:W3CDTF">2026-01-27T07:16:46Z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0x0101002834BE0D373B2249BC7B0C955863F009</vt:lpwstr>
  </property>
  <property fmtid="{D5CDD505-2E9C-101B-9397-08002B2CF9AE}" pid="3" name="CorpLoc">
    <vt:lpwstr/>
  </property>
  <property fmtid="{D5CDD505-2E9C-101B-9397-08002B2CF9AE}" pid="4" name="ProdLine">
    <vt:lpwstr/>
  </property>
  <property fmtid="{D5CDD505-2E9C-101B-9397-08002B2CF9AE}" pid="5" name="MediaServiceImageTags">
    <vt:lpwstr/>
  </property>
</Properties>
</file>